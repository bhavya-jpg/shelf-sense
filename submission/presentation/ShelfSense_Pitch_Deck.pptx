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helf-Sense" id="{82822d03-c489-81e0-31c6-de30742eca03}">
          <p14:sldIdLst>
            <p14:sldId id="256"/>
          </p14:sldIdLst>
        </p14:section>
        <p14:section name="Problem and solution" id="{cf98101c-28c7-d3e7-c2b2-0fbbb1c7b42c}">
          <p14:sldIdLst>
            <p14:sldId id="257"/>
            <p14:sldId id="258"/>
          </p14:sldIdLst>
        </p14:section>
        <p14:section name="Product" id="{1fc7fe02-7de2-152f-ca1e-af9dceaa5674}">
          <p14:sldIdLst>
            <p14:sldId id="259"/>
            <p14:sldId id="260"/>
          </p14:sldIdLst>
        </p14:section>
        <p14:section name="Evidence and value" id="{144af560-22f2-ae59-40c6-4f760e74ffe3}">
          <p14:sldIdLst>
            <p14:sldId id="261"/>
            <p14:sldId id="262"/>
          </p14:sldIdLst>
        </p14:section>
        <p14:section name="Close" id="{b6ffd88d-e113-e661-3c63-9f7cccf77369}">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Shelf-Sense turns one ordinary shelf photograph into a preliminary compliance report. The screenshot is a real result from the app: one call to Gemma-4-31B-IT on AMD Developer Cloud's Token Factory. The money figure is labelled unverified from the first slide on; we'll explain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Shelf audits today are manual: a person counts facings against a planned layout. That's slow, infrequent and inconsistent, and the gap rarely has a cost attached. We're not quoting industry statistics here; these are the operational frictions Shelf-Sense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picks a shelf specification, adds a photo and runs one inspection. A vision model counts each product shelf by shelf; plain Python turns those counts into the verdict, the estimated margin at risk and a restocking list. The result is preliminary by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screenshots are from one real run: 13.2 seconds of inspection on the AMD endpoint. The model reported Koko Krunch as 7 of 8 boxes, so the shelf came back non-compliant with an estimated $1.00 at risk, labelled unverified. The action note was worded by Gemma, but every number in it was inserted by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in one Python process. The photo and the spec go to the AMD endpoint in a single call; Gemma returns structured counts. Pydantic validates them, invented items are dropped, and unreliable or contradictory counts go to review. The verdict and the money are computed in code; the model never sets a status or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truth was counted by hand: 16 Stars, 8 Koko Krunch, 4 Milo, 4 Trix. A shelf-by-shelf prompt cut the error from 8 boxes to 1. Higher resolution and a second model didn't fix the last, half-hidden box. Per-shelf cropping did, but it overcounted neighbours and used hand-placed crops, so it isn't in production. That's why every dollar figure is labelled unverified.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integration is real and simple: each inspection is an HTTPS call to the Token Factory endpoint with Gemma-4-31B-IT, and the measured median is 18.2 seconds. We kept the first raw response and every experiment reply. We don't claim which serving software or GPU runs behind the hosted service. The value is intended, not measured in a store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follow directly from what we measured: better counting under occlusion, a step where a person verifies uncertain findings, evaluation on many more shelves, and real operational testing. None of that is built yet. Shelf-Sense today is AMD-hosted vision with decisions in code, and it's honest about its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83080"/>
            <a:ext cx="5852160" cy="1234440"/>
          </a:xfrm>
          <a:prstGeom prst="rect">
            <a:avLst/>
          </a:prstGeom>
          <a:noFill/>
          <a:ln/>
        </p:spPr>
        <p:txBody>
          <a:bodyPr wrap="square" rtlCol="0"/>
          <a:lstStyle>
            <a:lvl1pPr algn="l" indent="0" marL="0">
              <a:buNone/>
              <a:defRPr lang="en-US" sz="6600" b="1" dirty="0">
                <a:solidFill>
                  <a:schemeClr val="bg1"/>
                </a:solidFill>
              </a:defRPr>
            </a:lvl1pPr>
          </a:lstStyle>
          <a:p>
            <a:pPr algn="l" indent="0" marL="0">
              <a:buNone/>
            </a:pPr>
            <a:endParaRPr lang="en-US" sz="6600" dirty="0"/>
          </a:p>
        </p:txBody>
      </p:sp>
      <p:sp>
        <p:nvSpPr>
          <p:cNvPr id="3" name="Text 0"/>
          <p:cNvSpPr/>
          <p:nvPr>
            <p:ph idx="101" type="body" hasCustomPrompt="1"/>
          </p:nvPr>
        </p:nvSpPr>
        <p:spPr>
          <a:xfrm>
            <a:off x="548640" y="3063240"/>
            <a:ext cx="5669280" cy="548640"/>
          </a:xfrm>
          <a:prstGeom prst="rect">
            <a:avLst/>
          </a:prstGeom>
          <a:noFill/>
          <a:ln/>
        </p:spPr>
        <p:txBody>
          <a:bodyPr wrap="square" rtlCol="0"/>
          <a:lstStyle>
            <a:lvl1pPr algn="l" indent="0" marL="0">
              <a:buNone/>
              <a:defRPr lang="en-US" sz="2400" dirty="0">
                <a:solidFill>
                  <a:schemeClr val="bg2"/>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6858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6"/>
                </a:solidFill>
                <a:latin typeface="Courier New" pitchFamily="34" charset="0"/>
                <a:ea typeface="Courier New" pitchFamily="34" charset="-122"/>
                <a:cs typeface="Courier New" pitchFamily="34" charset="-120"/>
              </a:rPr>
              <a:t>Shelf-Sense · AMD Developer Hackathon: ACT III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bhavya-jpg/shelf-sense" TargetMode="Externa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48640"/>
            <a:ext cx="9144000" cy="274320"/>
          </a:xfrm>
          <a:prstGeom prst="rect">
            <a:avLst/>
          </a:prstGeom>
          <a:noFill/>
          <a:ln/>
        </p:spPr>
        <p:txBody>
          <a:bodyPr wrap="square" lIns="0" tIns="0" rIns="0" bIns="0" rtlCol="0" anchor="t"/>
          <a:lstStyle/>
          <a:p>
            <a:pPr indent="0" marL="0">
              <a:buNone/>
            </a:pPr>
            <a:r>
              <a:rPr lang="en-US" sz="1200" spc="200" kern="0" dirty="0">
                <a:solidFill>
                  <a:schemeClr val="accent1"/>
                </a:solidFill>
                <a:latin typeface="Courier New" pitchFamily="34" charset="0"/>
                <a:ea typeface="Courier New" pitchFamily="34" charset="-122"/>
                <a:cs typeface="Courier New" pitchFamily="34" charset="-120"/>
              </a:rPr>
              <a:t>[ AMD DEVELOPER HACKATHON: ACT III · REINVENT COMMERCE ]</a:t>
            </a:r>
            <a:endParaRPr lang="en-US" sz="1200" dirty="0"/>
          </a:p>
        </p:txBody>
      </p:sp>
      <p:sp>
        <p:nvSpPr>
          <p:cNvPr id="3" name="Text 0"/>
          <p:cNvSpPr/>
          <p:nvPr>
            <p:ph idx="100" type="title" hasCustomPrompt="1"/>
          </p:nvPr>
        </p:nvSpPr>
        <p:spPr>
          <a:xfrm>
            <a:off x="548640" y="1783080"/>
            <a:ext cx="5852160" cy="1234440"/>
          </a:xfrm>
          <a:prstGeom prst="rect">
            <a:avLst/>
          </a:prstGeom>
          <a:noFill/>
          <a:ln/>
        </p:spPr>
        <p:txBody>
          <a:bodyPr wrap="square" lIns="0" tIns="0" rIns="0" bIns="0" rtlCol="0" anchor="t"/>
          <a:lstStyle/>
          <a:p>
            <a:pPr algn="l" indent="0" marL="0">
              <a:buNone/>
            </a:pPr>
            <a:r>
              <a:rPr lang="en-US" sz="6600" b="1" dirty="0">
                <a:solidFill>
                  <a:schemeClr val="bg1"/>
                </a:solidFill>
              </a:rPr>
              <a:t>Shelf-Sense</a:t>
            </a:r>
            <a:endParaRPr lang="en-US" sz="6600" dirty="0"/>
          </a:p>
        </p:txBody>
      </p:sp>
      <p:sp>
        <p:nvSpPr>
          <p:cNvPr id="4" name="Text 0"/>
          <p:cNvSpPr/>
          <p:nvPr>
            <p:ph idx="101" type="body" hasCustomPrompt="1"/>
          </p:nvPr>
        </p:nvSpPr>
        <p:spPr>
          <a:xfrm>
            <a:off x="548640" y="3063240"/>
            <a:ext cx="5669280" cy="548640"/>
          </a:xfrm>
          <a:prstGeom prst="rect">
            <a:avLst/>
          </a:prstGeom>
          <a:noFill/>
          <a:ln/>
        </p:spPr>
        <p:txBody>
          <a:bodyPr wrap="square" lIns="0" tIns="0" rIns="0" bIns="0" rtlCol="0" anchor="t"/>
          <a:lstStyle/>
          <a:p>
            <a:pPr algn="l" indent="0" marL="0">
              <a:buNone/>
            </a:pPr>
            <a:r>
              <a:rPr lang="en-US" sz="2400" dirty="0">
                <a:solidFill>
                  <a:schemeClr val="bg2"/>
                </a:solidFill>
              </a:rPr>
              <a:t>AI-powered retail shelf intelligence</a:t>
            </a:r>
            <a:endParaRPr lang="en-US" sz="2400" dirty="0"/>
          </a:p>
        </p:txBody>
      </p:sp>
      <p:sp>
        <p:nvSpPr>
          <p:cNvPr id="5" name="Text 3"/>
          <p:cNvSpPr txBox="1"/>
          <p:nvPr/>
        </p:nvSpPr>
        <p:spPr>
          <a:xfrm>
            <a:off x="548640" y="3886200"/>
            <a:ext cx="5394960" cy="1097280"/>
          </a:xfrm>
          <a:prstGeom prst="rect">
            <a:avLst/>
          </a:prstGeom>
          <a:noFill/>
          <a:ln/>
        </p:spPr>
        <p:txBody>
          <a:bodyPr wrap="square" lIns="0" tIns="0" rIns="0" bIns="0" rtlCol="0" anchor="t"/>
          <a:lstStyle/>
          <a:p>
            <a:pPr indent="0" marL="0">
              <a:lnSpc>
                <a:spcPct val="120000"/>
              </a:lnSpc>
              <a:buNone/>
            </a:pPr>
            <a:r>
              <a:rPr lang="en-US" sz="1600" dirty="0">
                <a:solidFill>
                  <a:schemeClr val="bg2"/>
                </a:solidFill>
                <a:latin typeface="Arial" pitchFamily="34" charset="0"/>
                <a:ea typeface="Arial" pitchFamily="34" charset="-122"/>
                <a:cs typeface="Arial" pitchFamily="34" charset="-120"/>
              </a:rPr>
              <a:t>Photograph a shelf. Get per-product counts, a compliance verdict, an estimated margin at risk and a restocking list. The model counts; code decides.</a:t>
            </a:r>
            <a:endParaRPr lang="en-US" sz="1600" dirty="0"/>
          </a:p>
        </p:txBody>
      </p:sp>
      <p:sp>
        <p:nvSpPr>
          <p:cNvPr id="6" name="Text 4"/>
          <p:cNvSpPr txBox="1"/>
          <p:nvPr/>
        </p:nvSpPr>
        <p:spPr>
          <a:xfrm>
            <a:off x="548640" y="5989320"/>
            <a:ext cx="5760720" cy="27432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Gemma-4-31B-IT · AMD Developer Cloud Token Factory</a:t>
            </a:r>
            <a:endParaRPr lang="en-US" sz="1100" dirty="0"/>
          </a:p>
        </p:txBody>
      </p:sp>
      <p:sp>
        <p:nvSpPr>
          <p:cNvPr id="7" name="real result screenshot frame"/>
          <p:cNvSpPr/>
          <p:nvPr/>
        </p:nvSpPr>
        <p:spPr>
          <a:xfrm>
            <a:off x="6318504" y="1380744"/>
            <a:ext cx="5358384" cy="2748335"/>
          </a:xfrm>
          <a:prstGeom prst="rect">
            <a:avLst/>
          </a:prstGeom>
          <a:solidFill>
            <a:schemeClr val="tx2"/>
          </a:solidFill>
          <a:ln w="12700">
            <a:solidFill>
              <a:schemeClr val="accent5"/>
            </a:solidFill>
            <a:prstDash val="solid"/>
          </a:ln>
        </p:spPr>
      </p:sp>
      <p:pic>
        <p:nvPicPr>
          <p:cNvPr id="8" name="real result screenshot" descr="/Users/bhavya_/Dev/amd/submission/presentation/img/verdict.png">    </p:cNvPr>
          <p:cNvPicPr>
            <a:picLocks noChangeAspect="1"/>
          </p:cNvPicPr>
          <p:nvPr/>
        </p:nvPicPr>
        <p:blipFill>
          <a:blip r:embed="rId1"/>
          <a:stretch>
            <a:fillRect/>
          </a:stretch>
        </p:blipFill>
        <p:spPr>
          <a:xfrm>
            <a:off x="6355080" y="1417320"/>
            <a:ext cx="5285232" cy="2675183"/>
          </a:xfrm>
          <a:prstGeom prst="rect">
            <a:avLst/>
          </a:prstGeom>
        </p:spPr>
      </p:pic>
      <p:sp>
        <p:nvSpPr>
          <p:cNvPr id="9" name="Text 6"/>
          <p:cNvSpPr txBox="1"/>
          <p:nvPr/>
        </p:nvSpPr>
        <p:spPr>
          <a:xfrm>
            <a:off x="6355080" y="4251960"/>
            <a:ext cx="5285232" cy="27432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Real result from the app: one inspection on the AMD endpoint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t"/>
          <a:lstStyle/>
          <a:p>
            <a:pPr indent="0" marL="0">
              <a:buNone/>
            </a:pPr>
            <a:r>
              <a:rPr lang="en-US" sz="1200" spc="200" kern="0" dirty="0">
                <a:solidFill>
                  <a:schemeClr val="accent1"/>
                </a:solidFill>
                <a:latin typeface="Courier New" pitchFamily="34" charset="0"/>
                <a:ea typeface="Courier New" pitchFamily="34" charset="-122"/>
                <a:cs typeface="Courier New" pitchFamily="34" charset="-120"/>
              </a:rPr>
              <a:t>[01] THE PROBLEM</a:t>
            </a:r>
            <a:endParaRPr lang="en-US" sz="12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t"/>
          <a:lstStyle/>
          <a:p>
            <a:pPr algn="l" indent="0" marL="0">
              <a:buNone/>
            </a:pPr>
            <a:r>
              <a:rPr lang="en-US" sz="3200" b="1" dirty="0">
                <a:solidFill>
                  <a:schemeClr val="bg1"/>
                </a:solidFill>
              </a:rPr>
              <a:t>Shelves are still checked by eye</a:t>
            </a:r>
            <a:endParaRPr lang="en-US" sz="3200" dirty="0"/>
          </a:p>
        </p:txBody>
      </p:sp>
      <p:sp>
        <p:nvSpPr>
          <p:cNvPr id="4" name="Text 2"/>
          <p:cNvSpPr txBox="1"/>
          <p:nvPr/>
        </p:nvSpPr>
        <p:spPr>
          <a:xfrm>
            <a:off x="548640" y="1417320"/>
            <a:ext cx="7863840" cy="640080"/>
          </a:xfrm>
          <a:prstGeom prst="rect">
            <a:avLst/>
          </a:prstGeom>
          <a:noFill/>
          <a:ln/>
        </p:spPr>
        <p:txBody>
          <a:bodyPr wrap="square" lIns="0" tIns="0" rIns="0" bIns="0" rtlCol="0" anchor="t"/>
          <a:lstStyle/>
          <a:p>
            <a:pPr indent="0" marL="0">
              <a:buNone/>
            </a:pPr>
            <a:r>
              <a:rPr lang="en-US" sz="1600" dirty="0">
                <a:solidFill>
                  <a:schemeClr val="bg2"/>
                </a:solidFill>
                <a:latin typeface="Arial" pitchFamily="34" charset="0"/>
                <a:ea typeface="Arial" pitchFamily="34" charset="-122"/>
                <a:cs typeface="Arial" pitchFamily="34" charset="-120"/>
              </a:rPr>
              <a:t>Missing facings quietly cost margin. Manual shelf walks are slow and inconsistent, and small stores can’t justify dedicated shelf-scanning hardware.</a:t>
            </a:r>
            <a:endParaRPr lang="en-US" sz="1600" dirty="0"/>
          </a:p>
        </p:txBody>
      </p:sp>
      <p:sp>
        <p:nvSpPr>
          <p:cNvPr id="5" name="MANUAL card"/>
          <p:cNvSpPr/>
          <p:nvPr/>
        </p:nvSpPr>
        <p:spPr>
          <a:xfrm>
            <a:off x="548640" y="2423160"/>
            <a:ext cx="2636444" cy="3611880"/>
          </a:xfrm>
          <a:prstGeom prst="rect">
            <a:avLst/>
          </a:prstGeom>
          <a:solidFill>
            <a:schemeClr val="tx2"/>
          </a:solidFill>
          <a:ln w="12700">
            <a:solidFill>
              <a:schemeClr val="accent5"/>
            </a:solidFill>
            <a:prstDash val="solid"/>
          </a:ln>
        </p:spPr>
      </p:sp>
      <p:sp>
        <p:nvSpPr>
          <p:cNvPr id="6" name="Text 4"/>
          <p:cNvSpPr txBox="1"/>
          <p:nvPr/>
        </p:nvSpPr>
        <p:spPr>
          <a:xfrm>
            <a:off x="777240" y="2651760"/>
            <a:ext cx="2179244" cy="27432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[01] MANUAL</a:t>
            </a:r>
            <a:endParaRPr lang="en-US" sz="1100" dirty="0"/>
          </a:p>
        </p:txBody>
      </p:sp>
      <p:sp>
        <p:nvSpPr>
          <p:cNvPr id="7" name="Text 5"/>
          <p:cNvSpPr txBox="1"/>
          <p:nvPr/>
        </p:nvSpPr>
        <p:spPr>
          <a:xfrm>
            <a:off x="777240" y="3017520"/>
            <a:ext cx="2179244" cy="822960"/>
          </a:xfrm>
          <a:prstGeom prst="rect">
            <a:avLst/>
          </a:prstGeom>
          <a:noFill/>
          <a:ln/>
        </p:spPr>
        <p:txBody>
          <a:bodyPr wrap="square" lIns="0" tIns="0" rIns="0" bIns="0" rtlCol="0" anchor="t"/>
          <a:lstStyle/>
          <a:p>
            <a:pPr indent="0" marL="0">
              <a:buNone/>
            </a:pPr>
            <a:r>
              <a:rPr lang="en-US" sz="5400" b="1" dirty="0">
                <a:solidFill>
                  <a:schemeClr val="accent5"/>
                </a:solidFill>
                <a:latin typeface="Arial" pitchFamily="34" charset="0"/>
                <a:ea typeface="Arial" pitchFamily="34" charset="-122"/>
                <a:cs typeface="Arial" pitchFamily="34" charset="-120"/>
              </a:rPr>
              <a:t>01</a:t>
            </a:r>
            <a:endParaRPr lang="en-US" sz="5400" dirty="0"/>
          </a:p>
        </p:txBody>
      </p:sp>
      <p:sp>
        <p:nvSpPr>
          <p:cNvPr id="8" name="Text 6"/>
          <p:cNvSpPr txBox="1"/>
          <p:nvPr/>
        </p:nvSpPr>
        <p:spPr>
          <a:xfrm>
            <a:off x="777240" y="3886200"/>
            <a:ext cx="2179244" cy="109728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Every count is a person with a clipboard</a:t>
            </a:r>
            <a:endParaRPr lang="en-US" sz="1800" dirty="0"/>
          </a:p>
        </p:txBody>
      </p:sp>
      <p:sp>
        <p:nvSpPr>
          <p:cNvPr id="9" name="Text 7"/>
          <p:cNvSpPr txBox="1"/>
          <p:nvPr/>
        </p:nvSpPr>
        <p:spPr>
          <a:xfrm>
            <a:off x="777240" y="5029200"/>
            <a:ext cx="2179244" cy="91440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Checking a bay means walking it, counting facings and writing them down.</a:t>
            </a:r>
            <a:endParaRPr lang="en-US" sz="1400" dirty="0"/>
          </a:p>
        </p:txBody>
      </p:sp>
      <p:sp>
        <p:nvSpPr>
          <p:cNvPr id="10" name="INFREQUENT card"/>
          <p:cNvSpPr/>
          <p:nvPr/>
        </p:nvSpPr>
        <p:spPr>
          <a:xfrm>
            <a:off x="3367964" y="2423160"/>
            <a:ext cx="2636444" cy="3611880"/>
          </a:xfrm>
          <a:prstGeom prst="rect">
            <a:avLst/>
          </a:prstGeom>
          <a:solidFill>
            <a:schemeClr val="tx2"/>
          </a:solidFill>
          <a:ln w="12700">
            <a:solidFill>
              <a:schemeClr val="accent5"/>
            </a:solidFill>
            <a:prstDash val="solid"/>
          </a:ln>
        </p:spPr>
      </p:sp>
      <p:sp>
        <p:nvSpPr>
          <p:cNvPr id="11" name="Text 9"/>
          <p:cNvSpPr txBox="1"/>
          <p:nvPr/>
        </p:nvSpPr>
        <p:spPr>
          <a:xfrm>
            <a:off x="3596564" y="2651760"/>
            <a:ext cx="2179244" cy="27432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[02] INFREQUENT</a:t>
            </a:r>
            <a:endParaRPr lang="en-US" sz="1100" dirty="0"/>
          </a:p>
        </p:txBody>
      </p:sp>
      <p:sp>
        <p:nvSpPr>
          <p:cNvPr id="12" name="Text 10"/>
          <p:cNvSpPr txBox="1"/>
          <p:nvPr/>
        </p:nvSpPr>
        <p:spPr>
          <a:xfrm>
            <a:off x="3596564" y="3017520"/>
            <a:ext cx="2179244" cy="822960"/>
          </a:xfrm>
          <a:prstGeom prst="rect">
            <a:avLst/>
          </a:prstGeom>
          <a:noFill/>
          <a:ln/>
        </p:spPr>
        <p:txBody>
          <a:bodyPr wrap="square" lIns="0" tIns="0" rIns="0" bIns="0" rtlCol="0" anchor="t"/>
          <a:lstStyle/>
          <a:p>
            <a:pPr indent="0" marL="0">
              <a:buNone/>
            </a:pPr>
            <a:r>
              <a:rPr lang="en-US" sz="5400" b="1" dirty="0">
                <a:solidFill>
                  <a:schemeClr val="accent5"/>
                </a:solidFill>
                <a:latin typeface="Arial" pitchFamily="34" charset="0"/>
                <a:ea typeface="Arial" pitchFamily="34" charset="-122"/>
                <a:cs typeface="Arial" pitchFamily="34" charset="-120"/>
              </a:rPr>
              <a:t>02</a:t>
            </a:r>
            <a:endParaRPr lang="en-US" sz="5400" dirty="0"/>
          </a:p>
        </p:txBody>
      </p:sp>
      <p:sp>
        <p:nvSpPr>
          <p:cNvPr id="13" name="Text 11"/>
          <p:cNvSpPr txBox="1"/>
          <p:nvPr/>
        </p:nvSpPr>
        <p:spPr>
          <a:xfrm>
            <a:off x="3596564" y="3886200"/>
            <a:ext cx="2179244" cy="109728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Gaps sit unnoticed between walks</a:t>
            </a:r>
            <a:endParaRPr lang="en-US" sz="1800" dirty="0"/>
          </a:p>
        </p:txBody>
      </p:sp>
      <p:sp>
        <p:nvSpPr>
          <p:cNvPr id="14" name="Text 12"/>
          <p:cNvSpPr txBox="1"/>
          <p:nvPr/>
        </p:nvSpPr>
        <p:spPr>
          <a:xfrm>
            <a:off x="3596564" y="5029200"/>
            <a:ext cx="2179244" cy="91440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A missing facing can stay missing until the next scheduled check.</a:t>
            </a:r>
            <a:endParaRPr lang="en-US" sz="1400" dirty="0"/>
          </a:p>
        </p:txBody>
      </p:sp>
      <p:sp>
        <p:nvSpPr>
          <p:cNvPr id="15" name="INCONSISTENT card"/>
          <p:cNvSpPr/>
          <p:nvPr/>
        </p:nvSpPr>
        <p:spPr>
          <a:xfrm>
            <a:off x="6187288" y="2423160"/>
            <a:ext cx="2636444" cy="3611880"/>
          </a:xfrm>
          <a:prstGeom prst="rect">
            <a:avLst/>
          </a:prstGeom>
          <a:solidFill>
            <a:schemeClr val="tx2"/>
          </a:solidFill>
          <a:ln w="12700">
            <a:solidFill>
              <a:schemeClr val="accent5"/>
            </a:solidFill>
            <a:prstDash val="solid"/>
          </a:ln>
        </p:spPr>
      </p:sp>
      <p:sp>
        <p:nvSpPr>
          <p:cNvPr id="16" name="Text 14"/>
          <p:cNvSpPr txBox="1"/>
          <p:nvPr/>
        </p:nvSpPr>
        <p:spPr>
          <a:xfrm>
            <a:off x="6415888" y="2651760"/>
            <a:ext cx="2179244" cy="27432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[03] INCONSISTENT</a:t>
            </a:r>
            <a:endParaRPr lang="en-US" sz="1100" dirty="0"/>
          </a:p>
        </p:txBody>
      </p:sp>
      <p:sp>
        <p:nvSpPr>
          <p:cNvPr id="17" name="Text 15"/>
          <p:cNvSpPr txBox="1"/>
          <p:nvPr/>
        </p:nvSpPr>
        <p:spPr>
          <a:xfrm>
            <a:off x="6415888" y="3017520"/>
            <a:ext cx="2179244" cy="822960"/>
          </a:xfrm>
          <a:prstGeom prst="rect">
            <a:avLst/>
          </a:prstGeom>
          <a:noFill/>
          <a:ln/>
        </p:spPr>
        <p:txBody>
          <a:bodyPr wrap="square" lIns="0" tIns="0" rIns="0" bIns="0" rtlCol="0" anchor="t"/>
          <a:lstStyle/>
          <a:p>
            <a:pPr indent="0" marL="0">
              <a:buNone/>
            </a:pPr>
            <a:r>
              <a:rPr lang="en-US" sz="5400" b="1" dirty="0">
                <a:solidFill>
                  <a:schemeClr val="accent5"/>
                </a:solidFill>
                <a:latin typeface="Arial" pitchFamily="34" charset="0"/>
                <a:ea typeface="Arial" pitchFamily="34" charset="-122"/>
                <a:cs typeface="Arial" pitchFamily="34" charset="-120"/>
              </a:rPr>
              <a:t>03</a:t>
            </a:r>
            <a:endParaRPr lang="en-US" sz="5400" dirty="0"/>
          </a:p>
        </p:txBody>
      </p:sp>
      <p:sp>
        <p:nvSpPr>
          <p:cNvPr id="18" name="Text 16"/>
          <p:cNvSpPr txBox="1"/>
          <p:nvPr/>
        </p:nvSpPr>
        <p:spPr>
          <a:xfrm>
            <a:off x="6415888" y="3886200"/>
            <a:ext cx="2179244" cy="109728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Two people, two different counts</a:t>
            </a:r>
            <a:endParaRPr lang="en-US" sz="1800" dirty="0"/>
          </a:p>
        </p:txBody>
      </p:sp>
      <p:sp>
        <p:nvSpPr>
          <p:cNvPr id="19" name="Text 17"/>
          <p:cNvSpPr txBox="1"/>
          <p:nvPr/>
        </p:nvSpPr>
        <p:spPr>
          <a:xfrm>
            <a:off x="6415888" y="5029200"/>
            <a:ext cx="2179244" cy="91440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Half-hidden boxes and variants are judged differently each time.</a:t>
            </a:r>
            <a:endParaRPr lang="en-US" sz="1400" dirty="0"/>
          </a:p>
        </p:txBody>
      </p:sp>
      <p:sp>
        <p:nvSpPr>
          <p:cNvPr id="20" name="UNPRICED card"/>
          <p:cNvSpPr/>
          <p:nvPr/>
        </p:nvSpPr>
        <p:spPr>
          <a:xfrm>
            <a:off x="9006611" y="2423160"/>
            <a:ext cx="2636444" cy="3611880"/>
          </a:xfrm>
          <a:prstGeom prst="rect">
            <a:avLst/>
          </a:prstGeom>
          <a:solidFill>
            <a:schemeClr val="tx2"/>
          </a:solidFill>
          <a:ln w="12700">
            <a:solidFill>
              <a:schemeClr val="accent5"/>
            </a:solidFill>
            <a:prstDash val="solid"/>
          </a:ln>
        </p:spPr>
      </p:sp>
      <p:sp>
        <p:nvSpPr>
          <p:cNvPr id="21" name="Text 19"/>
          <p:cNvSpPr txBox="1"/>
          <p:nvPr/>
        </p:nvSpPr>
        <p:spPr>
          <a:xfrm>
            <a:off x="9235211" y="2651760"/>
            <a:ext cx="2179244" cy="27432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[04] UNPRICED</a:t>
            </a:r>
            <a:endParaRPr lang="en-US" sz="1100" dirty="0"/>
          </a:p>
        </p:txBody>
      </p:sp>
      <p:sp>
        <p:nvSpPr>
          <p:cNvPr id="22" name="Text 20"/>
          <p:cNvSpPr txBox="1"/>
          <p:nvPr/>
        </p:nvSpPr>
        <p:spPr>
          <a:xfrm>
            <a:off x="9235211" y="3017520"/>
            <a:ext cx="2179244" cy="822960"/>
          </a:xfrm>
          <a:prstGeom prst="rect">
            <a:avLst/>
          </a:prstGeom>
          <a:noFill/>
          <a:ln/>
        </p:spPr>
        <p:txBody>
          <a:bodyPr wrap="square" lIns="0" tIns="0" rIns="0" bIns="0" rtlCol="0" anchor="t"/>
          <a:lstStyle/>
          <a:p>
            <a:pPr indent="0" marL="0">
              <a:buNone/>
            </a:pPr>
            <a:r>
              <a:rPr lang="en-US" sz="5400" b="1" dirty="0">
                <a:solidFill>
                  <a:schemeClr val="accent5"/>
                </a:solidFill>
                <a:latin typeface="Arial" pitchFamily="34" charset="0"/>
                <a:ea typeface="Arial" pitchFamily="34" charset="-122"/>
                <a:cs typeface="Arial" pitchFamily="34" charset="-120"/>
              </a:rPr>
              <a:t>04</a:t>
            </a:r>
            <a:endParaRPr lang="en-US" sz="5400" dirty="0"/>
          </a:p>
        </p:txBody>
      </p:sp>
      <p:sp>
        <p:nvSpPr>
          <p:cNvPr id="23" name="Text 21"/>
          <p:cNvSpPr txBox="1"/>
          <p:nvPr/>
        </p:nvSpPr>
        <p:spPr>
          <a:xfrm>
            <a:off x="9235211" y="3886200"/>
            <a:ext cx="2179244" cy="109728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Nobody knows what the gap costs</a:t>
            </a:r>
            <a:endParaRPr lang="en-US" sz="1800" dirty="0"/>
          </a:p>
        </p:txBody>
      </p:sp>
      <p:sp>
        <p:nvSpPr>
          <p:cNvPr id="24" name="Text 22"/>
          <p:cNvSpPr txBox="1"/>
          <p:nvPr/>
        </p:nvSpPr>
        <p:spPr>
          <a:xfrm>
            <a:off x="9235211" y="5029200"/>
            <a:ext cx="2179244" cy="91440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Without a number attached, restocking competes with everything else.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t"/>
          <a:lstStyle/>
          <a:p>
            <a:pPr indent="0" marL="0">
              <a:buNone/>
            </a:pPr>
            <a:r>
              <a:rPr lang="en-US" sz="1200" spc="200" kern="0" dirty="0">
                <a:solidFill>
                  <a:schemeClr val="accent1"/>
                </a:solidFill>
                <a:latin typeface="Courier New" pitchFamily="34" charset="0"/>
                <a:ea typeface="Courier New" pitchFamily="34" charset="-122"/>
                <a:cs typeface="Courier New" pitchFamily="34" charset="-120"/>
              </a:rPr>
              <a:t>[02] THE SOLUTION</a:t>
            </a:r>
            <a:endParaRPr lang="en-US" sz="12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t"/>
          <a:lstStyle/>
          <a:p>
            <a:pPr algn="l" indent="0" marL="0">
              <a:buNone/>
            </a:pPr>
            <a:r>
              <a:rPr lang="en-US" sz="3200" b="1" dirty="0">
                <a:solidFill>
                  <a:schemeClr val="bg1"/>
                </a:solidFill>
              </a:rPr>
              <a:t>One photo in, a preliminary compliance report out</a:t>
            </a:r>
            <a:endParaRPr lang="en-US" sz="3200" dirty="0"/>
          </a:p>
        </p:txBody>
      </p:sp>
      <p:sp>
        <p:nvSpPr>
          <p:cNvPr id="4" name="Shape 2"/>
          <p:cNvSpPr/>
          <p:nvPr/>
        </p:nvSpPr>
        <p:spPr>
          <a:xfrm>
            <a:off x="548640" y="1691640"/>
            <a:ext cx="4846320" cy="0"/>
          </a:xfrm>
          <a:prstGeom prst="line">
            <a:avLst/>
          </a:prstGeom>
          <a:noFill/>
          <a:ln w="12700">
            <a:solidFill>
              <a:schemeClr val="accent5"/>
            </a:solidFill>
            <a:prstDash val="solid"/>
          </a:ln>
        </p:spPr>
      </p:sp>
      <p:sp>
        <p:nvSpPr>
          <p:cNvPr id="5" name="Text 3"/>
          <p:cNvSpPr txBox="1"/>
          <p:nvPr/>
        </p:nvSpPr>
        <p:spPr>
          <a:xfrm>
            <a:off x="548640" y="1837944"/>
            <a:ext cx="640080" cy="32004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[01]</a:t>
            </a:r>
            <a:endParaRPr lang="en-US" sz="1300" dirty="0"/>
          </a:p>
        </p:txBody>
      </p:sp>
      <p:sp>
        <p:nvSpPr>
          <p:cNvPr id="6" name="Text 4"/>
          <p:cNvSpPr txBox="1"/>
          <p:nvPr/>
        </p:nvSpPr>
        <p:spPr>
          <a:xfrm>
            <a:off x="1234440" y="1801368"/>
            <a:ext cx="4206240" cy="365760"/>
          </a:xfrm>
          <a:prstGeom prst="rect">
            <a:avLst/>
          </a:prstGeom>
          <a:noFill/>
          <a:ln/>
        </p:spPr>
        <p:txBody>
          <a:bodyPr wrap="square" lIns="0" tIns="0" rIns="0" bIns="0" rtlCol="0" anchor="t"/>
          <a:lstStyle/>
          <a:p>
            <a:pPr indent="0" marL="0">
              <a:buNone/>
            </a:pPr>
            <a:r>
              <a:rPr lang="en-US" sz="1900" b="1" dirty="0">
                <a:solidFill>
                  <a:schemeClr val="bg1"/>
                </a:solidFill>
                <a:latin typeface="Arial" pitchFamily="34" charset="0"/>
                <a:ea typeface="Arial" pitchFamily="34" charset="-122"/>
                <a:cs typeface="Arial" pitchFamily="34" charset="-120"/>
              </a:rPr>
              <a:t>Choose a shelf specification</a:t>
            </a:r>
            <a:endParaRPr lang="en-US" sz="1900" dirty="0"/>
          </a:p>
        </p:txBody>
      </p:sp>
      <p:sp>
        <p:nvSpPr>
          <p:cNvPr id="7" name="Shape 5"/>
          <p:cNvSpPr/>
          <p:nvPr/>
        </p:nvSpPr>
        <p:spPr>
          <a:xfrm>
            <a:off x="548640" y="2258568"/>
            <a:ext cx="4846320" cy="0"/>
          </a:xfrm>
          <a:prstGeom prst="line">
            <a:avLst/>
          </a:prstGeom>
          <a:noFill/>
          <a:ln w="12700">
            <a:solidFill>
              <a:schemeClr val="accent5"/>
            </a:solidFill>
            <a:prstDash val="solid"/>
          </a:ln>
        </p:spPr>
      </p:sp>
      <p:sp>
        <p:nvSpPr>
          <p:cNvPr id="8" name="Text 6"/>
          <p:cNvSpPr txBox="1"/>
          <p:nvPr/>
        </p:nvSpPr>
        <p:spPr>
          <a:xfrm>
            <a:off x="548640" y="2404872"/>
            <a:ext cx="640080" cy="32004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[02]</a:t>
            </a:r>
            <a:endParaRPr lang="en-US" sz="1300" dirty="0"/>
          </a:p>
        </p:txBody>
      </p:sp>
      <p:sp>
        <p:nvSpPr>
          <p:cNvPr id="9" name="Text 7"/>
          <p:cNvSpPr txBox="1"/>
          <p:nvPr/>
        </p:nvSpPr>
        <p:spPr>
          <a:xfrm>
            <a:off x="1234440" y="2368296"/>
            <a:ext cx="4206240" cy="365760"/>
          </a:xfrm>
          <a:prstGeom prst="rect">
            <a:avLst/>
          </a:prstGeom>
          <a:noFill/>
          <a:ln/>
        </p:spPr>
        <p:txBody>
          <a:bodyPr wrap="square" lIns="0" tIns="0" rIns="0" bIns="0" rtlCol="0" anchor="t"/>
          <a:lstStyle/>
          <a:p>
            <a:pPr indent="0" marL="0">
              <a:buNone/>
            </a:pPr>
            <a:r>
              <a:rPr lang="en-US" sz="1900" b="1" dirty="0">
                <a:solidFill>
                  <a:schemeClr val="bg1"/>
                </a:solidFill>
                <a:latin typeface="Arial" pitchFamily="34" charset="0"/>
                <a:ea typeface="Arial" pitchFamily="34" charset="-122"/>
                <a:cs typeface="Arial" pitchFamily="34" charset="-120"/>
              </a:rPr>
              <a:t>Add a shelf photograph</a:t>
            </a:r>
            <a:endParaRPr lang="en-US" sz="1900" dirty="0"/>
          </a:p>
        </p:txBody>
      </p:sp>
      <p:sp>
        <p:nvSpPr>
          <p:cNvPr id="10" name="Shape 8"/>
          <p:cNvSpPr/>
          <p:nvPr/>
        </p:nvSpPr>
        <p:spPr>
          <a:xfrm>
            <a:off x="548640" y="2825496"/>
            <a:ext cx="4846320" cy="0"/>
          </a:xfrm>
          <a:prstGeom prst="line">
            <a:avLst/>
          </a:prstGeom>
          <a:noFill/>
          <a:ln w="12700">
            <a:solidFill>
              <a:schemeClr val="accent5"/>
            </a:solidFill>
            <a:prstDash val="solid"/>
          </a:ln>
        </p:spPr>
      </p:sp>
      <p:sp>
        <p:nvSpPr>
          <p:cNvPr id="11" name="Text 9"/>
          <p:cNvSpPr txBox="1"/>
          <p:nvPr/>
        </p:nvSpPr>
        <p:spPr>
          <a:xfrm>
            <a:off x="548640" y="2971800"/>
            <a:ext cx="640080" cy="32004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[03]</a:t>
            </a:r>
            <a:endParaRPr lang="en-US" sz="1300" dirty="0"/>
          </a:p>
        </p:txBody>
      </p:sp>
      <p:sp>
        <p:nvSpPr>
          <p:cNvPr id="12" name="Text 10"/>
          <p:cNvSpPr txBox="1"/>
          <p:nvPr/>
        </p:nvSpPr>
        <p:spPr>
          <a:xfrm>
            <a:off x="1234440" y="2935224"/>
            <a:ext cx="4206240" cy="365760"/>
          </a:xfrm>
          <a:prstGeom prst="rect">
            <a:avLst/>
          </a:prstGeom>
          <a:noFill/>
          <a:ln/>
        </p:spPr>
        <p:txBody>
          <a:bodyPr wrap="square" lIns="0" tIns="0" rIns="0" bIns="0" rtlCol="0" anchor="t"/>
          <a:lstStyle/>
          <a:p>
            <a:pPr indent="0" marL="0">
              <a:buNone/>
            </a:pPr>
            <a:r>
              <a:rPr lang="en-US" sz="1900" b="1" dirty="0">
                <a:solidFill>
                  <a:schemeClr val="bg1"/>
                </a:solidFill>
                <a:latin typeface="Arial" pitchFamily="34" charset="0"/>
                <a:ea typeface="Arial" pitchFamily="34" charset="-122"/>
                <a:cs typeface="Arial" pitchFamily="34" charset="-120"/>
              </a:rPr>
              <a:t>Run one inspection</a:t>
            </a:r>
            <a:endParaRPr lang="en-US" sz="1900" dirty="0"/>
          </a:p>
        </p:txBody>
      </p:sp>
      <p:sp>
        <p:nvSpPr>
          <p:cNvPr id="13" name="Shape 11"/>
          <p:cNvSpPr/>
          <p:nvPr/>
        </p:nvSpPr>
        <p:spPr>
          <a:xfrm>
            <a:off x="548640" y="3392424"/>
            <a:ext cx="4846320" cy="0"/>
          </a:xfrm>
          <a:prstGeom prst="line">
            <a:avLst/>
          </a:prstGeom>
          <a:noFill/>
          <a:ln w="12700">
            <a:solidFill>
              <a:schemeClr val="accent5"/>
            </a:solidFill>
            <a:prstDash val="solid"/>
          </a:ln>
        </p:spPr>
      </p:sp>
      <p:sp>
        <p:nvSpPr>
          <p:cNvPr id="14" name="Text 12"/>
          <p:cNvSpPr txBox="1"/>
          <p:nvPr/>
        </p:nvSpPr>
        <p:spPr>
          <a:xfrm>
            <a:off x="548640" y="3657600"/>
            <a:ext cx="4846320" cy="274320"/>
          </a:xfrm>
          <a:prstGeom prst="rect">
            <a:avLst/>
          </a:prstGeom>
          <a:noFill/>
          <a:ln/>
        </p:spPr>
        <p:txBody>
          <a:bodyPr wrap="square" lIns="0" tIns="0" rIns="0" bIns="0" rtlCol="0" anchor="t"/>
          <a:lstStyle/>
          <a:p>
            <a:pPr indent="0" marL="0">
              <a:buNone/>
            </a:pPr>
            <a:r>
              <a:rPr lang="en-US" sz="1100" spc="200" kern="0" dirty="0">
                <a:solidFill>
                  <a:schemeClr val="accent6"/>
                </a:solidFill>
                <a:latin typeface="Courier New" pitchFamily="34" charset="0"/>
                <a:ea typeface="Courier New" pitchFamily="34" charset="-122"/>
                <a:cs typeface="Courier New" pitchFamily="34" charset="-120"/>
              </a:rPr>
              <a:t>WHAT COMES BACK</a:t>
            </a:r>
            <a:endParaRPr lang="en-US" sz="1100" dirty="0"/>
          </a:p>
        </p:txBody>
      </p:sp>
      <p:sp>
        <p:nvSpPr>
          <p:cNvPr id="15" name="Text 13"/>
          <p:cNvSpPr txBox="1"/>
          <p:nvPr/>
        </p:nvSpPr>
        <p:spPr>
          <a:xfrm>
            <a:off x="548640" y="3977640"/>
            <a:ext cx="4937760" cy="17373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1"/>
                </a:solidFill>
                <a:latin typeface="Arial" pitchFamily="34" charset="0"/>
                <a:ea typeface="Arial" pitchFamily="34" charset="-122"/>
                <a:cs typeface="Arial" pitchFamily="34" charset="-120"/>
              </a:rPr>
              <a:t>Per-product status and shelf-by-shelf counts</a:t>
            </a:r>
            <a:endParaRPr lang="en-US" sz="1500" dirty="0"/>
          </a:p>
          <a:p>
            <a:pPr marL="342900" indent="-342900">
              <a:spcAft>
                <a:spcPts val="600"/>
              </a:spcAft>
              <a:buSzPct val="100000"/>
              <a:buChar char="•"/>
            </a:pPr>
            <a:r>
              <a:rPr lang="en-US" sz="1500" dirty="0">
                <a:solidFill>
                  <a:schemeClr val="bg1"/>
                </a:solidFill>
                <a:latin typeface="Arial" pitchFamily="34" charset="0"/>
                <a:ea typeface="Arial" pitchFamily="34" charset="-122"/>
                <a:cs typeface="Arial" pitchFamily="34" charset="-120"/>
              </a:rPr>
              <a:t>Discrepancies against the expected inventory</a:t>
            </a:r>
            <a:endParaRPr lang="en-US" sz="1500" dirty="0"/>
          </a:p>
          <a:p>
            <a:pPr marL="342900" indent="-342900">
              <a:spcAft>
                <a:spcPts val="600"/>
              </a:spcAft>
              <a:buSzPct val="100000"/>
              <a:buChar char="•"/>
            </a:pPr>
            <a:r>
              <a:rPr lang="en-US" sz="1500" dirty="0">
                <a:solidFill>
                  <a:schemeClr val="bg1"/>
                </a:solidFill>
                <a:latin typeface="Arial" pitchFamily="34" charset="0"/>
                <a:ea typeface="Arial" pitchFamily="34" charset="-122"/>
                <a:cs typeface="Arial" pitchFamily="34" charset="-120"/>
              </a:rPr>
              <a:t>Estimated Margin at Risk (Unverified), computed in code</a:t>
            </a:r>
            <a:endParaRPr lang="en-US" sz="1500" dirty="0"/>
          </a:p>
          <a:p>
            <a:pPr marL="342900" indent="-342900">
              <a:spcAft>
                <a:spcPts val="600"/>
              </a:spcAft>
              <a:buSzPct val="100000"/>
              <a:buChar char="•"/>
            </a:pPr>
            <a:r>
              <a:rPr lang="en-US" sz="1500" dirty="0">
                <a:solidFill>
                  <a:schemeClr val="bg1"/>
                </a:solidFill>
                <a:latin typeface="Arial" pitchFamily="34" charset="0"/>
                <a:ea typeface="Arial" pitchFamily="34" charset="-122"/>
                <a:cs typeface="Arial" pitchFamily="34" charset="-120"/>
              </a:rPr>
              <a:t>A restocking note, labelled with who wrote it</a:t>
            </a:r>
            <a:endParaRPr lang="en-US" sz="1500" dirty="0"/>
          </a:p>
        </p:txBody>
      </p:sp>
      <p:sp>
        <p:nvSpPr>
          <p:cNvPr id="16" name="landing page screenshot frame"/>
          <p:cNvSpPr/>
          <p:nvPr/>
        </p:nvSpPr>
        <p:spPr>
          <a:xfrm>
            <a:off x="5861304" y="1655064"/>
            <a:ext cx="5815584" cy="3303270"/>
          </a:xfrm>
          <a:prstGeom prst="rect">
            <a:avLst/>
          </a:prstGeom>
          <a:solidFill>
            <a:schemeClr val="tx2"/>
          </a:solidFill>
          <a:ln w="12700">
            <a:solidFill>
              <a:schemeClr val="accent5"/>
            </a:solidFill>
            <a:prstDash val="solid"/>
          </a:ln>
        </p:spPr>
      </p:sp>
      <p:pic>
        <p:nvPicPr>
          <p:cNvPr id="17" name="landing page screenshot" descr="/Users/bhavya_/Dev/amd/submission/presentation/img/landing.png">    </p:cNvPr>
          <p:cNvPicPr>
            <a:picLocks noChangeAspect="1"/>
          </p:cNvPicPr>
          <p:nvPr/>
        </p:nvPicPr>
        <p:blipFill>
          <a:blip r:embed="rId1"/>
          <a:stretch>
            <a:fillRect/>
          </a:stretch>
        </p:blipFill>
        <p:spPr>
          <a:xfrm>
            <a:off x="5897880" y="1691640"/>
            <a:ext cx="5742432" cy="3230118"/>
          </a:xfrm>
          <a:prstGeom prst="rect">
            <a:avLst/>
          </a:prstGeom>
        </p:spPr>
      </p:pic>
      <p:sp>
        <p:nvSpPr>
          <p:cNvPr id="18" name="Text 15"/>
          <p:cNvSpPr txBox="1"/>
          <p:nvPr/>
        </p:nvSpPr>
        <p:spPr>
          <a:xfrm>
            <a:off x="5897880" y="5029200"/>
            <a:ext cx="5742432" cy="27432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The live web app: landing page, dashboard and method pages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t"/>
          <a:lstStyle/>
          <a:p>
            <a:pPr indent="0" marL="0">
              <a:buNone/>
            </a:pPr>
            <a:r>
              <a:rPr lang="en-US" sz="1200" spc="200" kern="0" dirty="0">
                <a:solidFill>
                  <a:schemeClr val="accent1"/>
                </a:solidFill>
                <a:latin typeface="Courier New" pitchFamily="34" charset="0"/>
                <a:ea typeface="Courier New" pitchFamily="34" charset="-122"/>
                <a:cs typeface="Courier New" pitchFamily="34" charset="-120"/>
              </a:rPr>
              <a:t>[03] PRODUCT DEMONSTRATION</a:t>
            </a:r>
            <a:endParaRPr lang="en-US" sz="12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t"/>
          <a:lstStyle/>
          <a:p>
            <a:pPr algn="l" indent="0" marL="0">
              <a:buNone/>
            </a:pPr>
            <a:r>
              <a:rPr lang="en-US" sz="3200" b="1" dirty="0">
                <a:solidFill>
                  <a:schemeClr val="bg1"/>
                </a:solidFill>
              </a:rPr>
              <a:t>A real inspection, end to end</a:t>
            </a:r>
            <a:endParaRPr lang="en-US" sz="3200" dirty="0"/>
          </a:p>
        </p:txBody>
      </p:sp>
      <p:sp>
        <p:nvSpPr>
          <p:cNvPr id="4" name="step Specification"/>
          <p:cNvSpPr/>
          <p:nvPr/>
        </p:nvSpPr>
        <p:spPr>
          <a:xfrm>
            <a:off x="548640" y="1463040"/>
            <a:ext cx="2057400" cy="420624"/>
          </a:xfrm>
          <a:prstGeom prst="rect">
            <a:avLst/>
          </a:prstGeom>
          <a:solidFill>
            <a:schemeClr val="tx2"/>
          </a:solidFill>
          <a:ln w="12700">
            <a:solidFill>
              <a:schemeClr val="accent5"/>
            </a:solidFill>
            <a:prstDash val="solid"/>
          </a:ln>
        </p:spPr>
      </p:sp>
      <p:sp>
        <p:nvSpPr>
          <p:cNvPr id="5" name="Text 3"/>
          <p:cNvSpPr txBox="1"/>
          <p:nvPr/>
        </p:nvSpPr>
        <p:spPr>
          <a:xfrm>
            <a:off x="685800" y="1463040"/>
            <a:ext cx="1783080" cy="420624"/>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1  Specification</a:t>
            </a:r>
            <a:endParaRPr lang="en-US" sz="1200" dirty="0"/>
          </a:p>
        </p:txBody>
      </p:sp>
      <p:sp>
        <p:nvSpPr>
          <p:cNvPr id="6" name="step Shelf image"/>
          <p:cNvSpPr/>
          <p:nvPr/>
        </p:nvSpPr>
        <p:spPr>
          <a:xfrm>
            <a:off x="2798064" y="1463040"/>
            <a:ext cx="2057400" cy="420624"/>
          </a:xfrm>
          <a:prstGeom prst="rect">
            <a:avLst/>
          </a:prstGeom>
          <a:solidFill>
            <a:schemeClr val="tx2"/>
          </a:solidFill>
          <a:ln w="12700">
            <a:solidFill>
              <a:schemeClr val="accent5"/>
            </a:solidFill>
            <a:prstDash val="solid"/>
          </a:ln>
        </p:spPr>
      </p:sp>
      <p:sp>
        <p:nvSpPr>
          <p:cNvPr id="7" name="Text 5"/>
          <p:cNvSpPr txBox="1"/>
          <p:nvPr/>
        </p:nvSpPr>
        <p:spPr>
          <a:xfrm>
            <a:off x="2935224" y="1463040"/>
            <a:ext cx="1783080" cy="420624"/>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2  Shelf image</a:t>
            </a:r>
            <a:endParaRPr lang="en-US" sz="1200" dirty="0"/>
          </a:p>
        </p:txBody>
      </p:sp>
      <p:sp>
        <p:nvSpPr>
          <p:cNvPr id="8" name="step Inference on AMD"/>
          <p:cNvSpPr/>
          <p:nvPr/>
        </p:nvSpPr>
        <p:spPr>
          <a:xfrm>
            <a:off x="5047488" y="1463040"/>
            <a:ext cx="2057400" cy="420624"/>
          </a:xfrm>
          <a:prstGeom prst="rect">
            <a:avLst/>
          </a:prstGeom>
          <a:solidFill>
            <a:schemeClr val="accent1"/>
          </a:solidFill>
          <a:ln w="12700">
            <a:solidFill>
              <a:schemeClr val="accent1"/>
            </a:solidFill>
            <a:prstDash val="solid"/>
          </a:ln>
        </p:spPr>
      </p:sp>
      <p:sp>
        <p:nvSpPr>
          <p:cNvPr id="9" name="Text 7"/>
          <p:cNvSpPr txBox="1"/>
          <p:nvPr/>
        </p:nvSpPr>
        <p:spPr>
          <a:xfrm>
            <a:off x="5184648" y="1463040"/>
            <a:ext cx="1783080" cy="420624"/>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3  Inference on AMD</a:t>
            </a:r>
            <a:endParaRPr lang="en-US" sz="1200" dirty="0"/>
          </a:p>
        </p:txBody>
      </p:sp>
      <p:sp>
        <p:nvSpPr>
          <p:cNvPr id="10" name="step Results"/>
          <p:cNvSpPr/>
          <p:nvPr/>
        </p:nvSpPr>
        <p:spPr>
          <a:xfrm>
            <a:off x="7296912" y="1463040"/>
            <a:ext cx="2057400" cy="420624"/>
          </a:xfrm>
          <a:prstGeom prst="rect">
            <a:avLst/>
          </a:prstGeom>
          <a:solidFill>
            <a:schemeClr val="tx2"/>
          </a:solidFill>
          <a:ln w="12700">
            <a:solidFill>
              <a:schemeClr val="accent5"/>
            </a:solidFill>
            <a:prstDash val="solid"/>
          </a:ln>
        </p:spPr>
      </p:sp>
      <p:sp>
        <p:nvSpPr>
          <p:cNvPr id="11" name="Text 9"/>
          <p:cNvSpPr txBox="1"/>
          <p:nvPr/>
        </p:nvSpPr>
        <p:spPr>
          <a:xfrm>
            <a:off x="7434072" y="1463040"/>
            <a:ext cx="1783080" cy="420624"/>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4  Results</a:t>
            </a:r>
            <a:endParaRPr lang="en-US" sz="1200" dirty="0"/>
          </a:p>
        </p:txBody>
      </p:sp>
      <p:sp>
        <p:nvSpPr>
          <p:cNvPr id="12" name="step Action note"/>
          <p:cNvSpPr/>
          <p:nvPr/>
        </p:nvSpPr>
        <p:spPr>
          <a:xfrm>
            <a:off x="9546336" y="1463040"/>
            <a:ext cx="2057400" cy="420624"/>
          </a:xfrm>
          <a:prstGeom prst="rect">
            <a:avLst/>
          </a:prstGeom>
          <a:solidFill>
            <a:schemeClr val="tx2"/>
          </a:solidFill>
          <a:ln w="12700">
            <a:solidFill>
              <a:schemeClr val="accent5"/>
            </a:solidFill>
            <a:prstDash val="solid"/>
          </a:ln>
        </p:spPr>
      </p:sp>
      <p:sp>
        <p:nvSpPr>
          <p:cNvPr id="13" name="Text 11"/>
          <p:cNvSpPr txBox="1"/>
          <p:nvPr/>
        </p:nvSpPr>
        <p:spPr>
          <a:xfrm>
            <a:off x="9683496" y="1463040"/>
            <a:ext cx="1783080" cy="420624"/>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5  Action note</a:t>
            </a:r>
            <a:endParaRPr lang="en-US" sz="1200" dirty="0"/>
          </a:p>
        </p:txBody>
      </p:sp>
      <p:sp>
        <p:nvSpPr>
          <p:cNvPr id="14" name="photo panel frame"/>
          <p:cNvSpPr/>
          <p:nvPr/>
        </p:nvSpPr>
        <p:spPr>
          <a:xfrm>
            <a:off x="512064" y="2203704"/>
            <a:ext cx="3050968" cy="3502152"/>
          </a:xfrm>
          <a:prstGeom prst="rect">
            <a:avLst/>
          </a:prstGeom>
          <a:solidFill>
            <a:schemeClr val="tx2"/>
          </a:solidFill>
          <a:ln w="12700">
            <a:solidFill>
              <a:schemeClr val="accent5"/>
            </a:solidFill>
            <a:prstDash val="solid"/>
          </a:ln>
        </p:spPr>
      </p:sp>
      <p:pic>
        <p:nvPicPr>
          <p:cNvPr id="15" name="photo panel" descr="/Users/bhavya_/Dev/amd/submission/presentation/img/photo_panel.png">    </p:cNvPr>
          <p:cNvPicPr>
            <a:picLocks noChangeAspect="1"/>
          </p:cNvPicPr>
          <p:nvPr/>
        </p:nvPicPr>
        <p:blipFill>
          <a:blip r:embed="rId1"/>
          <a:stretch>
            <a:fillRect/>
          </a:stretch>
        </p:blipFill>
        <p:spPr>
          <a:xfrm>
            <a:off x="548640" y="2240280"/>
            <a:ext cx="2977816" cy="3429000"/>
          </a:xfrm>
          <a:prstGeom prst="rect">
            <a:avLst/>
          </a:prstGeom>
        </p:spPr>
      </p:pic>
      <p:sp>
        <p:nvSpPr>
          <p:cNvPr id="16" name="results table frame"/>
          <p:cNvSpPr/>
          <p:nvPr/>
        </p:nvSpPr>
        <p:spPr>
          <a:xfrm>
            <a:off x="3712464" y="2203704"/>
            <a:ext cx="4416552" cy="2555095"/>
          </a:xfrm>
          <a:prstGeom prst="rect">
            <a:avLst/>
          </a:prstGeom>
          <a:solidFill>
            <a:schemeClr val="tx2"/>
          </a:solidFill>
          <a:ln w="12700">
            <a:solidFill>
              <a:schemeClr val="accent5"/>
            </a:solidFill>
            <a:prstDash val="solid"/>
          </a:ln>
        </p:spPr>
      </p:sp>
      <p:pic>
        <p:nvPicPr>
          <p:cNvPr id="17" name="results table" descr="/Users/bhavya_/Dev/amd/submission/presentation/img/table.png">    </p:cNvPr>
          <p:cNvPicPr>
            <a:picLocks noChangeAspect="1"/>
          </p:cNvPicPr>
          <p:nvPr/>
        </p:nvPicPr>
        <p:blipFill>
          <a:blip r:embed="rId2"/>
          <a:stretch>
            <a:fillRect/>
          </a:stretch>
        </p:blipFill>
        <p:spPr>
          <a:xfrm>
            <a:off x="3749040" y="2240280"/>
            <a:ext cx="4343400" cy="2481943"/>
          </a:xfrm>
          <a:prstGeom prst="rect">
            <a:avLst/>
          </a:prstGeom>
        </p:spPr>
      </p:pic>
      <p:sp>
        <p:nvSpPr>
          <p:cNvPr id="18" name="action note frame"/>
          <p:cNvSpPr/>
          <p:nvPr/>
        </p:nvSpPr>
        <p:spPr>
          <a:xfrm>
            <a:off x="8357616" y="2203704"/>
            <a:ext cx="3319272" cy="2188927"/>
          </a:xfrm>
          <a:prstGeom prst="rect">
            <a:avLst/>
          </a:prstGeom>
          <a:solidFill>
            <a:schemeClr val="tx2"/>
          </a:solidFill>
          <a:ln w="12700">
            <a:solidFill>
              <a:schemeClr val="accent5"/>
            </a:solidFill>
            <a:prstDash val="solid"/>
          </a:ln>
        </p:spPr>
      </p:sp>
      <p:pic>
        <p:nvPicPr>
          <p:cNvPr id="19" name="action note" descr="/Users/bhavya_/Dev/amd/submission/presentation/img/actions.png">    </p:cNvPr>
          <p:cNvPicPr>
            <a:picLocks noChangeAspect="1"/>
          </p:cNvPicPr>
          <p:nvPr/>
        </p:nvPicPr>
        <p:blipFill>
          <a:blip r:embed="rId3"/>
          <a:stretch>
            <a:fillRect/>
          </a:stretch>
        </p:blipFill>
        <p:spPr>
          <a:xfrm>
            <a:off x="8394192" y="2240280"/>
            <a:ext cx="3246120" cy="2115775"/>
          </a:xfrm>
          <a:prstGeom prst="rect">
            <a:avLst/>
          </a:prstGeom>
        </p:spPr>
      </p:pic>
      <p:sp>
        <p:nvSpPr>
          <p:cNvPr id="20" name="Text 15"/>
          <p:cNvSpPr txBox="1"/>
          <p:nvPr/>
        </p:nvSpPr>
        <p:spPr>
          <a:xfrm>
            <a:off x="548640" y="5806440"/>
            <a:ext cx="3017520" cy="45720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compliant.png, a self-taken photo of a 4-shelf cereal bay</a:t>
            </a:r>
            <a:endParaRPr lang="en-US" sz="1000" dirty="0"/>
          </a:p>
        </p:txBody>
      </p:sp>
      <p:sp>
        <p:nvSpPr>
          <p:cNvPr id="21" name="Text 16"/>
          <p:cNvSpPr txBox="1"/>
          <p:nvPr/>
        </p:nvSpPr>
        <p:spPr>
          <a:xfrm>
            <a:off x="3749040" y="4859383"/>
            <a:ext cx="4343400" cy="45720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Per-shelf counts against expected; Koko Krunch 7 of 8 flagged</a:t>
            </a:r>
            <a:endParaRPr lang="en-US" sz="1000" dirty="0"/>
          </a:p>
        </p:txBody>
      </p:sp>
      <p:sp>
        <p:nvSpPr>
          <p:cNvPr id="22" name="Text 17"/>
          <p:cNvSpPr txBox="1"/>
          <p:nvPr/>
        </p:nvSpPr>
        <p:spPr>
          <a:xfrm>
            <a:off x="8394192" y="4493215"/>
            <a:ext cx="3246120" cy="45720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AMD-worded note; names, counts and figures inserted by code</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t"/>
          <a:lstStyle/>
          <a:p>
            <a:pPr indent="0" marL="0">
              <a:buNone/>
            </a:pPr>
            <a:r>
              <a:rPr lang="en-US" sz="1200" spc="200" kern="0" dirty="0">
                <a:solidFill>
                  <a:schemeClr val="accent1"/>
                </a:solidFill>
                <a:latin typeface="Courier New" pitchFamily="34" charset="0"/>
                <a:ea typeface="Courier New" pitchFamily="34" charset="-122"/>
                <a:cs typeface="Courier New" pitchFamily="34" charset="-120"/>
              </a:rPr>
              <a:t>[04] TECHNICAL ARCHITECTURE</a:t>
            </a:r>
            <a:endParaRPr lang="en-US" sz="12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t"/>
          <a:lstStyle/>
          <a:p>
            <a:pPr algn="l" indent="0" marL="0">
              <a:buNone/>
            </a:pPr>
            <a:r>
              <a:rPr lang="en-US" sz="3200" b="1" dirty="0">
                <a:solidFill>
                  <a:schemeClr val="bg1"/>
                </a:solidFill>
              </a:rPr>
              <a:t>One Python process, one model call</a:t>
            </a:r>
            <a:endParaRPr lang="en-US" sz="3200" dirty="0"/>
          </a:p>
        </p:txBody>
      </p:sp>
      <p:sp>
        <p:nvSpPr>
          <p:cNvPr id="4" name="Streamlit app node"/>
          <p:cNvSpPr/>
          <p:nvPr/>
        </p:nvSpPr>
        <p:spPr>
          <a:xfrm>
            <a:off x="548640" y="1737360"/>
            <a:ext cx="1681429" cy="2514600"/>
          </a:xfrm>
          <a:prstGeom prst="rect">
            <a:avLst/>
          </a:prstGeom>
          <a:solidFill>
            <a:schemeClr val="tx2"/>
          </a:solidFill>
          <a:ln w="12700">
            <a:solidFill>
              <a:schemeClr val="accent5"/>
            </a:solidFill>
            <a:prstDash val="solid"/>
          </a:ln>
        </p:spPr>
      </p:sp>
      <p:sp>
        <p:nvSpPr>
          <p:cNvPr id="5" name="Text 3"/>
          <p:cNvSpPr txBox="1"/>
          <p:nvPr/>
        </p:nvSpPr>
        <p:spPr>
          <a:xfrm>
            <a:off x="685800" y="1901952"/>
            <a:ext cx="1407109" cy="27432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CODE</a:t>
            </a:r>
            <a:endParaRPr lang="en-US" sz="1000" dirty="0"/>
          </a:p>
        </p:txBody>
      </p:sp>
      <p:sp>
        <p:nvSpPr>
          <p:cNvPr id="6" name="Text 4"/>
          <p:cNvSpPr txBox="1"/>
          <p:nvPr/>
        </p:nvSpPr>
        <p:spPr>
          <a:xfrm>
            <a:off x="685800" y="2331720"/>
            <a:ext cx="1407109" cy="685800"/>
          </a:xfrm>
          <a:prstGeom prst="rect">
            <a:avLst/>
          </a:prstGeom>
          <a:noFill/>
          <a:ln/>
        </p:spPr>
        <p:txBody>
          <a:bodyPr wrap="square" lIns="0" tIns="0" rIns="0" bIns="0" rtlCol="0" anchor="t"/>
          <a:lstStyle/>
          <a:p>
            <a:pPr indent="0" marL="0">
              <a:buNone/>
            </a:pPr>
            <a:r>
              <a:rPr lang="en-US" sz="1600" b="1" dirty="0">
                <a:solidFill>
                  <a:schemeClr val="bg1"/>
                </a:solidFill>
                <a:latin typeface="Arial" pitchFamily="34" charset="0"/>
                <a:ea typeface="Arial" pitchFamily="34" charset="-122"/>
                <a:cs typeface="Arial" pitchFamily="34" charset="-120"/>
              </a:rPr>
              <a:t>Streamlit app</a:t>
            </a:r>
            <a:endParaRPr lang="en-US" sz="1600" dirty="0"/>
          </a:p>
        </p:txBody>
      </p:sp>
      <p:sp>
        <p:nvSpPr>
          <p:cNvPr id="7" name="Text 5"/>
          <p:cNvSpPr txBox="1"/>
          <p:nvPr/>
        </p:nvSpPr>
        <p:spPr>
          <a:xfrm>
            <a:off x="685800" y="3063240"/>
            <a:ext cx="1407109" cy="109728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Spec, photo, results UI; three pages</a:t>
            </a:r>
            <a:endParaRPr lang="en-US" sz="1400" dirty="0"/>
          </a:p>
        </p:txBody>
      </p:sp>
      <p:sp>
        <p:nvSpPr>
          <p:cNvPr id="8" name="arrow 1"/>
          <p:cNvSpPr/>
          <p:nvPr/>
        </p:nvSpPr>
        <p:spPr>
          <a:xfrm>
            <a:off x="2257501" y="2898648"/>
            <a:ext cx="146304" cy="182880"/>
          </a:xfrm>
          <a:prstGeom prst="rightArrow">
            <a:avLst/>
          </a:prstGeom>
          <a:solidFill>
            <a:schemeClr val="accent6"/>
          </a:solidFill>
          <a:ln w="12700">
            <a:solidFill>
              <a:schemeClr val="accent6"/>
            </a:solidFill>
            <a:prstDash val="solid"/>
          </a:ln>
        </p:spPr>
      </p:sp>
      <p:sp>
        <p:nvSpPr>
          <p:cNvPr id="9" name="Inspection + prompt node"/>
          <p:cNvSpPr/>
          <p:nvPr/>
        </p:nvSpPr>
        <p:spPr>
          <a:xfrm>
            <a:off x="2431237" y="1737360"/>
            <a:ext cx="1681429" cy="2514600"/>
          </a:xfrm>
          <a:prstGeom prst="rect">
            <a:avLst/>
          </a:prstGeom>
          <a:solidFill>
            <a:schemeClr val="tx2"/>
          </a:solidFill>
          <a:ln w="12700">
            <a:solidFill>
              <a:schemeClr val="accent5"/>
            </a:solidFill>
            <a:prstDash val="solid"/>
          </a:ln>
        </p:spPr>
      </p:sp>
      <p:sp>
        <p:nvSpPr>
          <p:cNvPr id="10" name="Text 8"/>
          <p:cNvSpPr txBox="1"/>
          <p:nvPr/>
        </p:nvSpPr>
        <p:spPr>
          <a:xfrm>
            <a:off x="2568397" y="1901952"/>
            <a:ext cx="1407109" cy="27432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CODE</a:t>
            </a:r>
            <a:endParaRPr lang="en-US" sz="1000" dirty="0"/>
          </a:p>
        </p:txBody>
      </p:sp>
      <p:sp>
        <p:nvSpPr>
          <p:cNvPr id="11" name="Text 9"/>
          <p:cNvSpPr txBox="1"/>
          <p:nvPr/>
        </p:nvSpPr>
        <p:spPr>
          <a:xfrm>
            <a:off x="2568397" y="2331720"/>
            <a:ext cx="1407109" cy="685800"/>
          </a:xfrm>
          <a:prstGeom prst="rect">
            <a:avLst/>
          </a:prstGeom>
          <a:noFill/>
          <a:ln/>
        </p:spPr>
        <p:txBody>
          <a:bodyPr wrap="square" lIns="0" tIns="0" rIns="0" bIns="0" rtlCol="0" anchor="t"/>
          <a:lstStyle/>
          <a:p>
            <a:pPr indent="0" marL="0">
              <a:buNone/>
            </a:pPr>
            <a:r>
              <a:rPr lang="en-US" sz="1600" b="1" dirty="0">
                <a:solidFill>
                  <a:schemeClr val="bg1"/>
                </a:solidFill>
                <a:latin typeface="Arial" pitchFamily="34" charset="0"/>
                <a:ea typeface="Arial" pitchFamily="34" charset="-122"/>
                <a:cs typeface="Arial" pitchFamily="34" charset="-120"/>
              </a:rPr>
              <a:t>Inspection + prompt</a:t>
            </a:r>
            <a:endParaRPr lang="en-US" sz="1600" dirty="0"/>
          </a:p>
        </p:txBody>
      </p:sp>
      <p:sp>
        <p:nvSpPr>
          <p:cNvPr id="12" name="Text 10"/>
          <p:cNvSpPr txBox="1"/>
          <p:nvPr/>
        </p:nvSpPr>
        <p:spPr>
          <a:xfrm>
            <a:off x="2568397" y="3063240"/>
            <a:ext cx="1407109" cy="109728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EXIF-rotate, resize to 1024 px; spec as text</a:t>
            </a:r>
            <a:endParaRPr lang="en-US" sz="1400" dirty="0"/>
          </a:p>
        </p:txBody>
      </p:sp>
      <p:sp>
        <p:nvSpPr>
          <p:cNvPr id="13" name="arrow 2"/>
          <p:cNvSpPr/>
          <p:nvPr/>
        </p:nvSpPr>
        <p:spPr>
          <a:xfrm>
            <a:off x="4140098" y="2898648"/>
            <a:ext cx="146304" cy="182880"/>
          </a:xfrm>
          <a:prstGeom prst="rightArrow">
            <a:avLst/>
          </a:prstGeom>
          <a:solidFill>
            <a:schemeClr val="accent6"/>
          </a:solidFill>
          <a:ln w="12700">
            <a:solidFill>
              <a:schemeClr val="accent6"/>
            </a:solidFill>
            <a:prstDash val="solid"/>
          </a:ln>
        </p:spPr>
      </p:sp>
      <p:sp>
        <p:nvSpPr>
          <p:cNvPr id="14" name="AMD Token Factory node"/>
          <p:cNvSpPr/>
          <p:nvPr/>
        </p:nvSpPr>
        <p:spPr>
          <a:xfrm>
            <a:off x="4313834" y="1737360"/>
            <a:ext cx="1681429" cy="2514600"/>
          </a:xfrm>
          <a:prstGeom prst="rect">
            <a:avLst/>
          </a:prstGeom>
          <a:solidFill>
            <a:schemeClr val="accent1">
              <a:alpha val="12000"/>
            </a:schemeClr>
          </a:solidFill>
          <a:ln w="19050">
            <a:solidFill>
              <a:schemeClr val="accent1"/>
            </a:solidFill>
            <a:prstDash val="solid"/>
          </a:ln>
        </p:spPr>
      </p:sp>
      <p:sp>
        <p:nvSpPr>
          <p:cNvPr id="15" name="Text 13"/>
          <p:cNvSpPr txBox="1"/>
          <p:nvPr/>
        </p:nvSpPr>
        <p:spPr>
          <a:xfrm>
            <a:off x="4450994" y="1901952"/>
            <a:ext cx="1407109" cy="274320"/>
          </a:xfrm>
          <a:prstGeom prst="rect">
            <a:avLst/>
          </a:prstGeom>
          <a:noFill/>
          <a:ln/>
        </p:spPr>
        <p:txBody>
          <a:bodyPr wrap="square" lIns="0" tIns="0" rIns="0" bIns="0" rtlCol="0" anchor="t"/>
          <a:lstStyle/>
          <a:p>
            <a:pPr indent="0" marL="0">
              <a:buNone/>
            </a:pPr>
            <a:r>
              <a:rPr lang="en-US" sz="1000" dirty="0">
                <a:solidFill>
                  <a:schemeClr val="accent1"/>
                </a:solidFill>
                <a:latin typeface="Courier New" pitchFamily="34" charset="0"/>
                <a:ea typeface="Courier New" pitchFamily="34" charset="-122"/>
                <a:cs typeface="Courier New" pitchFamily="34" charset="-120"/>
              </a:rPr>
              <a:t>MODEL</a:t>
            </a:r>
            <a:endParaRPr lang="en-US" sz="1000" dirty="0"/>
          </a:p>
        </p:txBody>
      </p:sp>
      <p:sp>
        <p:nvSpPr>
          <p:cNvPr id="16" name="Text 14"/>
          <p:cNvSpPr txBox="1"/>
          <p:nvPr/>
        </p:nvSpPr>
        <p:spPr>
          <a:xfrm>
            <a:off x="4450994" y="2331720"/>
            <a:ext cx="1407109" cy="685800"/>
          </a:xfrm>
          <a:prstGeom prst="rect">
            <a:avLst/>
          </a:prstGeom>
          <a:noFill/>
          <a:ln/>
        </p:spPr>
        <p:txBody>
          <a:bodyPr wrap="square" lIns="0" tIns="0" rIns="0" bIns="0" rtlCol="0" anchor="t"/>
          <a:lstStyle/>
          <a:p>
            <a:pPr indent="0" marL="0">
              <a:buNone/>
            </a:pPr>
            <a:r>
              <a:rPr lang="en-US" sz="1600" b="1" dirty="0">
                <a:solidFill>
                  <a:schemeClr val="bg1"/>
                </a:solidFill>
                <a:latin typeface="Arial" pitchFamily="34" charset="0"/>
                <a:ea typeface="Arial" pitchFamily="34" charset="-122"/>
                <a:cs typeface="Arial" pitchFamily="34" charset="-120"/>
              </a:rPr>
              <a:t>AMD Token Factory</a:t>
            </a:r>
            <a:endParaRPr lang="en-US" sz="1600" dirty="0"/>
          </a:p>
        </p:txBody>
      </p:sp>
      <p:sp>
        <p:nvSpPr>
          <p:cNvPr id="17" name="Text 15"/>
          <p:cNvSpPr txBox="1"/>
          <p:nvPr/>
        </p:nvSpPr>
        <p:spPr>
          <a:xfrm>
            <a:off x="4450994" y="3063240"/>
            <a:ext cx="1407109" cy="109728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Gemma-4-31B-IT returns per-shelf counts (JSON)</a:t>
            </a:r>
            <a:endParaRPr lang="en-US" sz="1400" dirty="0"/>
          </a:p>
        </p:txBody>
      </p:sp>
      <p:sp>
        <p:nvSpPr>
          <p:cNvPr id="18" name="arrow 3"/>
          <p:cNvSpPr/>
          <p:nvPr/>
        </p:nvSpPr>
        <p:spPr>
          <a:xfrm>
            <a:off x="6022696" y="2898648"/>
            <a:ext cx="146304" cy="182880"/>
          </a:xfrm>
          <a:prstGeom prst="rightArrow">
            <a:avLst/>
          </a:prstGeom>
          <a:solidFill>
            <a:schemeClr val="accent6"/>
          </a:solidFill>
          <a:ln w="12700">
            <a:solidFill>
              <a:schemeClr val="accent6"/>
            </a:solidFill>
            <a:prstDash val="solid"/>
          </a:ln>
        </p:spPr>
      </p:sp>
      <p:sp>
        <p:nvSpPr>
          <p:cNvPr id="19" name="Validation node"/>
          <p:cNvSpPr/>
          <p:nvPr/>
        </p:nvSpPr>
        <p:spPr>
          <a:xfrm>
            <a:off x="6196432" y="1737360"/>
            <a:ext cx="1681429" cy="2514600"/>
          </a:xfrm>
          <a:prstGeom prst="rect">
            <a:avLst/>
          </a:prstGeom>
          <a:solidFill>
            <a:schemeClr val="tx2"/>
          </a:solidFill>
          <a:ln w="12700">
            <a:solidFill>
              <a:schemeClr val="accent5"/>
            </a:solidFill>
            <a:prstDash val="solid"/>
          </a:ln>
        </p:spPr>
      </p:sp>
      <p:sp>
        <p:nvSpPr>
          <p:cNvPr id="20" name="Text 18"/>
          <p:cNvSpPr txBox="1"/>
          <p:nvPr/>
        </p:nvSpPr>
        <p:spPr>
          <a:xfrm>
            <a:off x="6333592" y="1901952"/>
            <a:ext cx="1407109" cy="27432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CODE</a:t>
            </a:r>
            <a:endParaRPr lang="en-US" sz="1000" dirty="0"/>
          </a:p>
        </p:txBody>
      </p:sp>
      <p:sp>
        <p:nvSpPr>
          <p:cNvPr id="21" name="Text 19"/>
          <p:cNvSpPr txBox="1"/>
          <p:nvPr/>
        </p:nvSpPr>
        <p:spPr>
          <a:xfrm>
            <a:off x="6333592" y="2331720"/>
            <a:ext cx="1407109" cy="685800"/>
          </a:xfrm>
          <a:prstGeom prst="rect">
            <a:avLst/>
          </a:prstGeom>
          <a:noFill/>
          <a:ln/>
        </p:spPr>
        <p:txBody>
          <a:bodyPr wrap="square" lIns="0" tIns="0" rIns="0" bIns="0" rtlCol="0" anchor="t"/>
          <a:lstStyle/>
          <a:p>
            <a:pPr indent="0" marL="0">
              <a:buNone/>
            </a:pPr>
            <a:r>
              <a:rPr lang="en-US" sz="1600" b="1" dirty="0">
                <a:solidFill>
                  <a:schemeClr val="bg1"/>
                </a:solidFill>
                <a:latin typeface="Arial" pitchFamily="34" charset="0"/>
                <a:ea typeface="Arial" pitchFamily="34" charset="-122"/>
                <a:cs typeface="Arial" pitchFamily="34" charset="-120"/>
              </a:rPr>
              <a:t>Validation</a:t>
            </a:r>
            <a:endParaRPr lang="en-US" sz="1600" dirty="0"/>
          </a:p>
        </p:txBody>
      </p:sp>
      <p:sp>
        <p:nvSpPr>
          <p:cNvPr id="22" name="Text 20"/>
          <p:cNvSpPr txBox="1"/>
          <p:nvPr/>
        </p:nvSpPr>
        <p:spPr>
          <a:xfrm>
            <a:off x="6333592" y="3063240"/>
            <a:ext cx="1407109" cy="109728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Pydantic schema, one retry, review flags</a:t>
            </a:r>
            <a:endParaRPr lang="en-US" sz="1400" dirty="0"/>
          </a:p>
        </p:txBody>
      </p:sp>
      <p:sp>
        <p:nvSpPr>
          <p:cNvPr id="23" name="arrow 4"/>
          <p:cNvSpPr/>
          <p:nvPr/>
        </p:nvSpPr>
        <p:spPr>
          <a:xfrm>
            <a:off x="7905293" y="2898648"/>
            <a:ext cx="146304" cy="182880"/>
          </a:xfrm>
          <a:prstGeom prst="rightArrow">
            <a:avLst/>
          </a:prstGeom>
          <a:solidFill>
            <a:schemeClr val="accent6"/>
          </a:solidFill>
          <a:ln w="12700">
            <a:solidFill>
              <a:schemeClr val="accent6"/>
            </a:solidFill>
            <a:prstDash val="solid"/>
          </a:ln>
        </p:spPr>
      </p:sp>
      <p:sp>
        <p:nvSpPr>
          <p:cNvPr id="24" name="Financial calculation node"/>
          <p:cNvSpPr/>
          <p:nvPr/>
        </p:nvSpPr>
        <p:spPr>
          <a:xfrm>
            <a:off x="8079029" y="1737360"/>
            <a:ext cx="1681429" cy="2514600"/>
          </a:xfrm>
          <a:prstGeom prst="rect">
            <a:avLst/>
          </a:prstGeom>
          <a:solidFill>
            <a:schemeClr val="tx2"/>
          </a:solidFill>
          <a:ln w="12700">
            <a:solidFill>
              <a:schemeClr val="accent5"/>
            </a:solidFill>
            <a:prstDash val="solid"/>
          </a:ln>
        </p:spPr>
      </p:sp>
      <p:sp>
        <p:nvSpPr>
          <p:cNvPr id="25" name="Text 23"/>
          <p:cNvSpPr txBox="1"/>
          <p:nvPr/>
        </p:nvSpPr>
        <p:spPr>
          <a:xfrm>
            <a:off x="8216189" y="1901952"/>
            <a:ext cx="1407109" cy="27432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CODE</a:t>
            </a:r>
            <a:endParaRPr lang="en-US" sz="1000" dirty="0"/>
          </a:p>
        </p:txBody>
      </p:sp>
      <p:sp>
        <p:nvSpPr>
          <p:cNvPr id="26" name="Text 24"/>
          <p:cNvSpPr txBox="1"/>
          <p:nvPr/>
        </p:nvSpPr>
        <p:spPr>
          <a:xfrm>
            <a:off x="8216189" y="2331720"/>
            <a:ext cx="1407109" cy="685800"/>
          </a:xfrm>
          <a:prstGeom prst="rect">
            <a:avLst/>
          </a:prstGeom>
          <a:noFill/>
          <a:ln/>
        </p:spPr>
        <p:txBody>
          <a:bodyPr wrap="square" lIns="0" tIns="0" rIns="0" bIns="0" rtlCol="0" anchor="t"/>
          <a:lstStyle/>
          <a:p>
            <a:pPr indent="0" marL="0">
              <a:buNone/>
            </a:pPr>
            <a:r>
              <a:rPr lang="en-US" sz="1600" b="1" dirty="0">
                <a:solidFill>
                  <a:schemeClr val="bg1"/>
                </a:solidFill>
                <a:latin typeface="Arial" pitchFamily="34" charset="0"/>
                <a:ea typeface="Arial" pitchFamily="34" charset="-122"/>
                <a:cs typeface="Arial" pitchFamily="34" charset="-120"/>
              </a:rPr>
              <a:t>Financial calculation</a:t>
            </a:r>
            <a:endParaRPr lang="en-US" sz="1600" dirty="0"/>
          </a:p>
        </p:txBody>
      </p:sp>
      <p:sp>
        <p:nvSpPr>
          <p:cNvPr id="27" name="Text 25"/>
          <p:cNvSpPr txBox="1"/>
          <p:nvPr/>
        </p:nvSpPr>
        <p:spPr>
          <a:xfrm>
            <a:off x="8216189" y="3063240"/>
            <a:ext cx="1407109" cy="109728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Verdict and margin estimate, Decimal maths</a:t>
            </a:r>
            <a:endParaRPr lang="en-US" sz="1400" dirty="0"/>
          </a:p>
        </p:txBody>
      </p:sp>
      <p:sp>
        <p:nvSpPr>
          <p:cNvPr id="28" name="arrow 5"/>
          <p:cNvSpPr/>
          <p:nvPr/>
        </p:nvSpPr>
        <p:spPr>
          <a:xfrm>
            <a:off x="9787890" y="2898648"/>
            <a:ext cx="146304" cy="182880"/>
          </a:xfrm>
          <a:prstGeom prst="rightArrow">
            <a:avLst/>
          </a:prstGeom>
          <a:solidFill>
            <a:schemeClr val="accent6"/>
          </a:solidFill>
          <a:ln w="12700">
            <a:solidFill>
              <a:schemeClr val="accent6"/>
            </a:solidFill>
            <a:prstDash val="solid"/>
          </a:ln>
        </p:spPr>
      </p:sp>
      <p:sp>
        <p:nvSpPr>
          <p:cNvPr id="29" name="Action note node"/>
          <p:cNvSpPr/>
          <p:nvPr/>
        </p:nvSpPr>
        <p:spPr>
          <a:xfrm>
            <a:off x="9961626" y="1737360"/>
            <a:ext cx="1681429" cy="2514600"/>
          </a:xfrm>
          <a:prstGeom prst="rect">
            <a:avLst/>
          </a:prstGeom>
          <a:solidFill>
            <a:schemeClr val="tx2"/>
          </a:solidFill>
          <a:ln w="12700">
            <a:solidFill>
              <a:schemeClr val="accent5"/>
            </a:solidFill>
            <a:prstDash val="solid"/>
          </a:ln>
        </p:spPr>
      </p:sp>
      <p:sp>
        <p:nvSpPr>
          <p:cNvPr id="30" name="Text 28"/>
          <p:cNvSpPr txBox="1"/>
          <p:nvPr/>
        </p:nvSpPr>
        <p:spPr>
          <a:xfrm>
            <a:off x="10098786" y="1901952"/>
            <a:ext cx="1407109" cy="27432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CODE + MODEL</a:t>
            </a:r>
            <a:endParaRPr lang="en-US" sz="1000" dirty="0"/>
          </a:p>
        </p:txBody>
      </p:sp>
      <p:sp>
        <p:nvSpPr>
          <p:cNvPr id="31" name="Text 29"/>
          <p:cNvSpPr txBox="1"/>
          <p:nvPr/>
        </p:nvSpPr>
        <p:spPr>
          <a:xfrm>
            <a:off x="10098786" y="2331720"/>
            <a:ext cx="1407109" cy="685800"/>
          </a:xfrm>
          <a:prstGeom prst="rect">
            <a:avLst/>
          </a:prstGeom>
          <a:noFill/>
          <a:ln/>
        </p:spPr>
        <p:txBody>
          <a:bodyPr wrap="square" lIns="0" tIns="0" rIns="0" bIns="0" rtlCol="0" anchor="t"/>
          <a:lstStyle/>
          <a:p>
            <a:pPr indent="0" marL="0">
              <a:buNone/>
            </a:pPr>
            <a:r>
              <a:rPr lang="en-US" sz="1600" b="1" dirty="0">
                <a:solidFill>
                  <a:schemeClr val="bg1"/>
                </a:solidFill>
                <a:latin typeface="Arial" pitchFamily="34" charset="0"/>
                <a:ea typeface="Arial" pitchFamily="34" charset="-122"/>
                <a:cs typeface="Arial" pitchFamily="34" charset="-120"/>
              </a:rPr>
              <a:t>Action note</a:t>
            </a:r>
            <a:endParaRPr lang="en-US" sz="1600" dirty="0"/>
          </a:p>
        </p:txBody>
      </p:sp>
      <p:sp>
        <p:nvSpPr>
          <p:cNvPr id="32" name="Text 30"/>
          <p:cNvSpPr txBox="1"/>
          <p:nvPr/>
        </p:nvSpPr>
        <p:spPr>
          <a:xfrm>
            <a:off x="10098786" y="3063240"/>
            <a:ext cx="1407109" cy="109728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Template; AMD may reword; numbers from code</a:t>
            </a:r>
            <a:endParaRPr lang="en-US" sz="1400" dirty="0"/>
          </a:p>
        </p:txBody>
      </p:sp>
      <p:sp>
        <p:nvSpPr>
          <p:cNvPr id="33" name="Text 31"/>
          <p:cNvSpPr txBox="1"/>
          <p:nvPr/>
        </p:nvSpPr>
        <p:spPr>
          <a:xfrm>
            <a:off x="548640" y="4617720"/>
            <a:ext cx="11094415" cy="640080"/>
          </a:xfrm>
          <a:prstGeom prst="rect">
            <a:avLst/>
          </a:prstGeom>
          <a:noFill/>
          <a:ln/>
        </p:spPr>
        <p:txBody>
          <a:bodyPr wrap="square" lIns="0" tIns="0" rIns="0" bIns="0" rtlCol="0" anchor="t"/>
          <a:lstStyle/>
          <a:p>
            <a:pPr indent="0" marL="0">
              <a:buNone/>
            </a:pPr>
            <a:r>
              <a:rPr lang="en-US" sz="1500" b="1" dirty="0">
                <a:solidFill>
                  <a:schemeClr val="accent1"/>
                </a:solidFill>
                <a:latin typeface="Arial" pitchFamily="34" charset="0"/>
                <a:ea typeface="Arial" pitchFamily="34" charset="-122"/>
                <a:cs typeface="Arial" pitchFamily="34" charset="-120"/>
              </a:rPr>
              <a:t>Model output: </a:t>
            </a:r>
            <a:pPr indent="0" marL="0">
              <a:buNone/>
            </a:pPr>
            <a:r>
              <a:rPr lang="en-US" sz="1500" dirty="0">
                <a:solidFill>
                  <a:schemeClr val="bg1"/>
                </a:solidFill>
                <a:latin typeface="Arial" pitchFamily="34" charset="0"/>
                <a:ea typeface="Arial" pitchFamily="34" charset="-122"/>
                <a:cs typeface="Arial" pitchFamily="34" charset="-120"/>
              </a:rPr>
              <a:t>per-product, per-shelf counts and optional wording.  </a:t>
            </a:r>
            <a:pPr indent="0" marL="0">
              <a:buNone/>
            </a:pPr>
            <a:r>
              <a:rPr lang="en-US" sz="1500" b="1" dirty="0">
                <a:solidFill>
                  <a:schemeClr val="bg1"/>
                </a:solidFill>
                <a:latin typeface="Arial" pitchFamily="34" charset="0"/>
                <a:ea typeface="Arial" pitchFamily="34" charset="-122"/>
                <a:cs typeface="Arial" pitchFamily="34" charset="-120"/>
              </a:rPr>
              <a:t>Code: </a:t>
            </a:r>
            <a:pPr indent="0" marL="0">
              <a:buNone/>
            </a:pPr>
            <a:r>
              <a:rPr lang="en-US" sz="1500" dirty="0">
                <a:solidFill>
                  <a:schemeClr val="bg2"/>
                </a:solidFill>
                <a:latin typeface="Arial" pitchFamily="34" charset="0"/>
                <a:ea typeface="Arial" pitchFamily="34" charset="-122"/>
                <a:cs typeface="Arial" pitchFamily="34" charset="-120"/>
              </a:rPr>
              <a:t>validation, statuses, the verdict, every dollar figure, and the checks on any AI wording.</a:t>
            </a:r>
            <a:endParaRPr lang="en-US" sz="1500" dirty="0"/>
          </a:p>
        </p:txBody>
      </p:sp>
      <p:sp>
        <p:nvSpPr>
          <p:cNvPr id="34" name="Text 32"/>
          <p:cNvSpPr txBox="1"/>
          <p:nvPr/>
        </p:nvSpPr>
        <p:spPr>
          <a:xfrm>
            <a:off x="548640" y="5486400"/>
            <a:ext cx="11094415" cy="320040"/>
          </a:xfrm>
          <a:prstGeom prst="rect">
            <a:avLst/>
          </a:prstGeom>
          <a:noFill/>
          <a:ln/>
        </p:spPr>
        <p:txBody>
          <a:bodyPr wrap="square" lIns="0" tIns="0" rIns="0" bIns="0" rtlCol="0" anchor="t"/>
          <a:lstStyle/>
          <a:p>
            <a:pPr indent="0" marL="0">
              <a:buNone/>
            </a:pPr>
            <a:r>
              <a:rPr lang="en-US" sz="1100" dirty="0">
                <a:solidFill>
                  <a:schemeClr val="accent6"/>
                </a:solidFill>
                <a:latin typeface="Courier New" pitchFamily="34" charset="0"/>
                <a:ea typeface="Courier New" pitchFamily="34" charset="-122"/>
                <a:cs typeface="Courier New" pitchFamily="34" charset="-120"/>
              </a:rPr>
              <a:t>Single Docker container on Render · no database · no other model provider · 195 offline tests</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t"/>
          <a:lstStyle/>
          <a:p>
            <a:pPr indent="0" marL="0">
              <a:buNone/>
            </a:pPr>
            <a:r>
              <a:rPr lang="en-US" sz="1200" spc="200" kern="0" dirty="0">
                <a:solidFill>
                  <a:schemeClr val="accent1"/>
                </a:solidFill>
                <a:latin typeface="Courier New" pitchFamily="34" charset="0"/>
                <a:ea typeface="Courier New" pitchFamily="34" charset="-122"/>
                <a:cs typeface="Courier New" pitchFamily="34" charset="-120"/>
              </a:rPr>
              <a:t>[05] EVALUATION AND LIMITATIONS</a:t>
            </a:r>
            <a:endParaRPr lang="en-US" sz="12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t"/>
          <a:lstStyle/>
          <a:p>
            <a:pPr algn="l" indent="0" marL="0">
              <a:buNone/>
            </a:pPr>
            <a:r>
              <a:rPr lang="en-US" sz="3200" b="1" dirty="0">
                <a:solidFill>
                  <a:schemeClr val="bg1"/>
                </a:solidFill>
              </a:rPr>
              <a:t>Measured on a real shelf, reported as measured</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492240" cy="914400"/>
        </p:xfrm>
        <a:graphic>
          <a:graphicData uri="http://schemas.openxmlformats.org/drawingml/2006/table">
            <a:tbl>
              <a:tblPr/>
              <a:tblGrid>
                <a:gridCol w="1325880"/>
                <a:gridCol w="2331720"/>
                <a:gridCol w="868680"/>
                <a:gridCol w="914400"/>
                <a:gridCol w="1051560"/>
              </a:tblGrid>
              <a:tr h="329184">
                <a:tc>
                  <a:txBody>
                    <a:bodyPr/>
                    <a:lstStyle/>
                    <a:p>
                      <a:pPr indent="0" marL="0">
                        <a:buNone/>
                      </a:pPr>
                      <a:r>
                        <a:rPr lang="en-US" sz="1000" b="1" dirty="0">
                          <a:solidFill>
                            <a:schemeClr val="accent6"/>
                          </a:solidFill>
                          <a:latin typeface="Courier New" pitchFamily="34" charset="0"/>
                          <a:ea typeface="Courier New" pitchFamily="34" charset="-122"/>
                          <a:cs typeface="Courier New" pitchFamily="34" charset="-120"/>
                        </a:rPr>
                        <a:t>EXPERIMENT</a:t>
                      </a:r>
                      <a:endParaRPr lang="en-US" sz="1000" dirty="0">
                        <a:latin typeface="Courier New" charset="0"/>
                        <a:ea typeface="Courier New" charset="0"/>
                        <a:cs typeface="Courier New" charset="0"/>
                      </a:endParaRPr>
                    </a:p>
                  </a:txBody>
                  <a:tcPr marL="73152" marR="73152" marT="36576" marB="36576">
                    <a:lnL w="9525" cap="flat" cmpd="sng" algn="ctr">
                      <a:solidFill>
                        <a:srgbClr val="31363A"/>
                      </a:solidFill>
                      <a:prstDash val="solid"/>
                      <a:round/>
                      <a:headEnd type="none" w="med" len="med"/>
                      <a:tailEnd type="none" w="med" len="med"/>
                    </a:lnL>
                    <a:lnR w="9525" cap="flat" cmpd="sng" algn="ctr">
                      <a:solidFill>
                        <a:srgbClr val="31363A"/>
                      </a:solidFill>
                      <a:prstDash val="solid"/>
                      <a:round/>
                      <a:headEnd type="none" w="med" len="med"/>
                      <a:tailEnd type="none" w="med" len="med"/>
                    </a:lnR>
                    <a:lnT w="9525" cap="flat" cmpd="sng" algn="ctr">
                      <a:solidFill>
                        <a:srgbClr val="31363A"/>
                      </a:solidFill>
                      <a:prstDash val="solid"/>
                      <a:round/>
                      <a:headEnd type="none" w="med" len="med"/>
                      <a:tailEnd type="none" w="med" len="med"/>
                    </a:lnT>
                    <a:lnB w="9525" cap="flat" cmpd="sng" algn="ctr">
                      <a:solidFill>
                        <a:srgbClr val="31363A"/>
                      </a:solidFill>
                      <a:prstDash val="solid"/>
                      <a:round/>
                      <a:headEnd type="none" w="med" len="med"/>
                      <a:tailEnd type="none" w="med" len="med"/>
                    </a:lnB>
                    <a:solidFill>
                      <a:schemeClr val="tx2"/>
                    </a:solidFill>
                  </a:tcPr>
                </a:tc>
                <a:tc>
                  <a:txBody>
                    <a:bodyPr/>
                    <a:lstStyle/>
                    <a:p>
                      <a:pPr indent="0" marL="0">
                        <a:buNone/>
                      </a:pPr>
                      <a:r>
                        <a:rPr lang="en-US" sz="1000" b="1" dirty="0">
                          <a:solidFill>
                            <a:schemeClr val="accent6"/>
                          </a:solidFill>
                          <a:latin typeface="Courier New" pitchFamily="34" charset="0"/>
                          <a:ea typeface="Courier New" pitchFamily="34" charset="-122"/>
                          <a:cs typeface="Courier New" pitchFamily="34" charset="-120"/>
                        </a:rPr>
                        <a:t>CHANGE</a:t>
                      </a:r>
                      <a:endParaRPr lang="en-US" sz="1000" dirty="0">
                        <a:latin typeface="Courier New" charset="0"/>
                        <a:ea typeface="Courier New" charset="0"/>
                        <a:cs typeface="Courier New" charset="0"/>
                      </a:endParaRPr>
                    </a:p>
                  </a:txBody>
                  <a:tcPr marL="73152" marR="73152" marT="36576" marB="36576">
                    <a:lnL w="9525" cap="flat" cmpd="sng" algn="ctr">
                      <a:solidFill>
                        <a:srgbClr val="31363A"/>
                      </a:solidFill>
                      <a:prstDash val="solid"/>
                      <a:round/>
                      <a:headEnd type="none" w="med" len="med"/>
                      <a:tailEnd type="none" w="med" len="med"/>
                    </a:lnL>
                    <a:lnR w="9525" cap="flat" cmpd="sng" algn="ctr">
                      <a:solidFill>
                        <a:srgbClr val="31363A"/>
                      </a:solidFill>
                      <a:prstDash val="solid"/>
                      <a:round/>
                      <a:headEnd type="none" w="med" len="med"/>
                      <a:tailEnd type="none" w="med" len="med"/>
                    </a:lnR>
                    <a:lnT w="9525" cap="flat" cmpd="sng" algn="ctr">
                      <a:solidFill>
                        <a:srgbClr val="31363A"/>
                      </a:solidFill>
                      <a:prstDash val="solid"/>
                      <a:round/>
                      <a:headEnd type="none" w="med" len="med"/>
                      <a:tailEnd type="none" w="med" len="med"/>
                    </a:lnT>
                    <a:lnB w="9525" cap="flat" cmpd="sng" algn="ctr">
                      <a:solidFill>
                        <a:srgbClr val="31363A"/>
                      </a:solidFill>
                      <a:prstDash val="solid"/>
                      <a:round/>
                      <a:headEnd type="none" w="med" len="med"/>
                      <a:tailEnd type="none" w="med" len="med"/>
                    </a:lnB>
                    <a:solidFill>
                      <a:schemeClr val="tx2"/>
                    </a:solidFill>
                  </a:tcPr>
                </a:tc>
                <a:tc>
                  <a:txBody>
                    <a:bodyPr/>
                    <a:lstStyle/>
                    <a:p>
                      <a:pPr indent="0" marL="0">
                        <a:buNone/>
                      </a:pPr>
                      <a:r>
                        <a:rPr lang="en-US" sz="1000" b="1" dirty="0">
                          <a:solidFill>
                            <a:schemeClr val="accent6"/>
                          </a:solidFill>
                          <a:latin typeface="Courier New" pitchFamily="34" charset="0"/>
                          <a:ea typeface="Courier New" pitchFamily="34" charset="-122"/>
                          <a:cs typeface="Courier New" pitchFamily="34" charset="-120"/>
                        </a:rPr>
                        <a:t>EXACT</a:t>
                      </a:r>
                      <a:endParaRPr lang="en-US" sz="1000" dirty="0">
                        <a:latin typeface="Courier New" charset="0"/>
                        <a:ea typeface="Courier New" charset="0"/>
                        <a:cs typeface="Courier New" charset="0"/>
                      </a:endParaRPr>
                    </a:p>
                  </a:txBody>
                  <a:tcPr marL="73152" marR="73152" marT="36576" marB="36576">
                    <a:lnL w="9525" cap="flat" cmpd="sng" algn="ctr">
                      <a:solidFill>
                        <a:srgbClr val="31363A"/>
                      </a:solidFill>
                      <a:prstDash val="solid"/>
                      <a:round/>
                      <a:headEnd type="none" w="med" len="med"/>
                      <a:tailEnd type="none" w="med" len="med"/>
                    </a:lnL>
                    <a:lnR w="9525" cap="flat" cmpd="sng" algn="ctr">
                      <a:solidFill>
                        <a:srgbClr val="31363A"/>
                      </a:solidFill>
                      <a:prstDash val="solid"/>
                      <a:round/>
                      <a:headEnd type="none" w="med" len="med"/>
                      <a:tailEnd type="none" w="med" len="med"/>
                    </a:lnR>
                    <a:lnT w="9525" cap="flat" cmpd="sng" algn="ctr">
                      <a:solidFill>
                        <a:srgbClr val="31363A"/>
                      </a:solidFill>
                      <a:prstDash val="solid"/>
                      <a:round/>
                      <a:headEnd type="none" w="med" len="med"/>
                      <a:tailEnd type="none" w="med" len="med"/>
                    </a:lnT>
                    <a:lnB w="9525" cap="flat" cmpd="sng" algn="ctr">
                      <a:solidFill>
                        <a:srgbClr val="31363A"/>
                      </a:solidFill>
                      <a:prstDash val="solid"/>
                      <a:round/>
                      <a:headEnd type="none" w="med" len="med"/>
                      <a:tailEnd type="none" w="med" len="med"/>
                    </a:lnB>
                    <a:solidFill>
                      <a:schemeClr val="tx2"/>
                    </a:solidFill>
                  </a:tcPr>
                </a:tc>
                <a:tc>
                  <a:txBody>
                    <a:bodyPr/>
                    <a:lstStyle/>
                    <a:p>
                      <a:pPr indent="0" marL="0">
                        <a:buNone/>
                      </a:pPr>
                      <a:r>
                        <a:rPr lang="en-US" sz="1000" b="1" dirty="0">
                          <a:solidFill>
                            <a:schemeClr val="accent6"/>
                          </a:solidFill>
                          <a:latin typeface="Courier New" pitchFamily="34" charset="0"/>
                          <a:ea typeface="Courier New" pitchFamily="34" charset="-122"/>
                          <a:cs typeface="Courier New" pitchFamily="34" charset="-120"/>
                        </a:rPr>
                        <a:t>ERROR</a:t>
                      </a:r>
                      <a:endParaRPr lang="en-US" sz="1000" dirty="0">
                        <a:latin typeface="Courier New" charset="0"/>
                        <a:ea typeface="Courier New" charset="0"/>
                        <a:cs typeface="Courier New" charset="0"/>
                      </a:endParaRPr>
                    </a:p>
                  </a:txBody>
                  <a:tcPr marL="73152" marR="73152" marT="36576" marB="36576">
                    <a:lnL w="9525" cap="flat" cmpd="sng" algn="ctr">
                      <a:solidFill>
                        <a:srgbClr val="31363A"/>
                      </a:solidFill>
                      <a:prstDash val="solid"/>
                      <a:round/>
                      <a:headEnd type="none" w="med" len="med"/>
                      <a:tailEnd type="none" w="med" len="med"/>
                    </a:lnL>
                    <a:lnR w="9525" cap="flat" cmpd="sng" algn="ctr">
                      <a:solidFill>
                        <a:srgbClr val="31363A"/>
                      </a:solidFill>
                      <a:prstDash val="solid"/>
                      <a:round/>
                      <a:headEnd type="none" w="med" len="med"/>
                      <a:tailEnd type="none" w="med" len="med"/>
                    </a:lnR>
                    <a:lnT w="9525" cap="flat" cmpd="sng" algn="ctr">
                      <a:solidFill>
                        <a:srgbClr val="31363A"/>
                      </a:solidFill>
                      <a:prstDash val="solid"/>
                      <a:round/>
                      <a:headEnd type="none" w="med" len="med"/>
                      <a:tailEnd type="none" w="med" len="med"/>
                    </a:lnT>
                    <a:lnB w="9525" cap="flat" cmpd="sng" algn="ctr">
                      <a:solidFill>
                        <a:srgbClr val="31363A"/>
                      </a:solidFill>
                      <a:prstDash val="solid"/>
                      <a:round/>
                      <a:headEnd type="none" w="med" len="med"/>
                      <a:tailEnd type="none" w="med" len="med"/>
                    </a:lnB>
                    <a:solidFill>
                      <a:schemeClr val="tx2"/>
                    </a:solidFill>
                  </a:tcPr>
                </a:tc>
                <a:tc>
                  <a:txBody>
                    <a:bodyPr/>
                    <a:lstStyle/>
                    <a:p>
                      <a:pPr indent="0" marL="0">
                        <a:buNone/>
                      </a:pPr>
                      <a:r>
                        <a:rPr lang="en-US" sz="1000" b="1" dirty="0">
                          <a:solidFill>
                            <a:schemeClr val="accent6"/>
                          </a:solidFill>
                          <a:latin typeface="Courier New" pitchFamily="34" charset="0"/>
                          <a:ea typeface="Courier New" pitchFamily="34" charset="-122"/>
                          <a:cs typeface="Courier New" pitchFamily="34" charset="-120"/>
                        </a:rPr>
                        <a:t>SHELF RIGHT</a:t>
                      </a:r>
                      <a:endParaRPr lang="en-US" sz="1000" dirty="0">
                        <a:latin typeface="Courier New" charset="0"/>
                        <a:ea typeface="Courier New" charset="0"/>
                        <a:cs typeface="Courier New" charset="0"/>
                      </a:endParaRPr>
                    </a:p>
                  </a:txBody>
                  <a:tcPr marL="73152" marR="73152" marT="36576" marB="36576">
                    <a:lnL w="9525" cap="flat" cmpd="sng" algn="ctr">
                      <a:solidFill>
                        <a:srgbClr val="31363A"/>
                      </a:solidFill>
                      <a:prstDash val="solid"/>
                      <a:round/>
                      <a:headEnd type="none" w="med" len="med"/>
                      <a:tailEnd type="none" w="med" len="med"/>
                    </a:lnL>
                    <a:lnR w="9525" cap="flat" cmpd="sng" algn="ctr">
                      <a:solidFill>
                        <a:srgbClr val="31363A"/>
                      </a:solidFill>
                      <a:prstDash val="solid"/>
                      <a:round/>
                      <a:headEnd type="none" w="med" len="med"/>
                      <a:tailEnd type="none" w="med" len="med"/>
                    </a:lnR>
                    <a:lnT w="9525" cap="flat" cmpd="sng" algn="ctr">
                      <a:solidFill>
                        <a:srgbClr val="31363A"/>
                      </a:solidFill>
                      <a:prstDash val="solid"/>
                      <a:round/>
                      <a:headEnd type="none" w="med" len="med"/>
                      <a:tailEnd type="none" w="med" len="med"/>
                    </a:lnT>
                    <a:lnB w="9525" cap="flat" cmpd="sng" algn="ctr">
                      <a:solidFill>
                        <a:srgbClr val="31363A"/>
                      </a:solidFill>
                      <a:prstDash val="solid"/>
                      <a:round/>
                      <a:headEnd type="none" w="med" len="med"/>
                      <a:tailEnd type="none" w="med" len="med"/>
                    </a:lnB>
                    <a:solidFill>
                      <a:schemeClr val="tx2"/>
                    </a:solidFill>
                  </a:tcPr>
                </a:tc>
              </a:tr>
              <a:tr h="329184">
                <a:tc>
                  <a:txBody>
                    <a:bodyPr/>
                    <a:lstStyle/>
                    <a:p>
                      <a:pPr indent="0" marL="0">
                        <a:buNone/>
                      </a:pPr>
                      <a:r>
                        <a:rPr lang="en-US" sz="1200" dirty="0">
                          <a:solidFill>
                            <a:schemeClr val="bg1"/>
                          </a:solidFill>
                          <a:latin typeface="Arial" pitchFamily="34" charset="0"/>
                          <a:ea typeface="Arial" pitchFamily="34" charset="-122"/>
                          <a:cs typeface="Arial" pitchFamily="34" charset="-120"/>
                        </a:rPr>
                        <a:t>Baseline</a:t>
                      </a:r>
                      <a:endParaRPr lang="en-US" sz="1200" dirty="0">
                        <a:latin typeface="Arial" charset="0"/>
                        <a:ea typeface="Arial" charset="0"/>
                        <a:cs typeface="Arial" charset="0"/>
                      </a:endParaRPr>
                    </a:p>
                  </a:txBody>
                  <a:tcPr marL="73152" marR="73152" marT="36576" marB="36576">
                    <a:lnL w="9525" cap="flat" cmpd="sng" algn="ctr">
                      <a:solidFill>
                        <a:srgbClr val="31363A"/>
                      </a:solidFill>
                      <a:prstDash val="solid"/>
                      <a:round/>
                      <a:headEnd type="none" w="med" len="med"/>
                      <a:tailEnd type="none" w="med" len="med"/>
                    </a:lnL>
                    <a:lnR w="9525" cap="flat" cmpd="sng" algn="ctr">
                      <a:solidFill>
                        <a:srgbClr val="31363A"/>
                      </a:solidFill>
                      <a:prstDash val="solid"/>
                      <a:round/>
                      <a:headEnd type="none" w="med" len="med"/>
                      <a:tailEnd type="none" w="med" len="med"/>
                    </a:lnR>
                    <a:lnT w="9525" cap="flat" cmpd="sng" algn="ctr">
                      <a:solidFill>
                        <a:srgbClr val="31363A"/>
                      </a:solidFill>
                      <a:prstDash val="solid"/>
                      <a:round/>
                      <a:headEnd type="none" w="med" len="med"/>
                      <a:tailEnd type="none" w="med" len="med"/>
                    </a:lnT>
                    <a:lnB w="9525" cap="flat" cmpd="sng" algn="ctr">
                      <a:solidFill>
                        <a:srgbClr val="31363A"/>
                      </a:solidFill>
                      <a:prstDash val="solid"/>
                      <a:round/>
                      <a:headEnd type="none" w="med" len="med"/>
                      <a:tailEnd type="none" w="med" len="med"/>
                    </a:lnB>
                    <a:solidFill>
                      <a:srgbClr val="0A0B0C"/>
                    </a:solidFill>
                  </a:tcPr>
                </a:tc>
                <a:tc>
                  <a:txBody>
                    <a:bodyPr/>
                    <a:lstStyle/>
                    <a:p>
                      <a:pPr indent="0" marL="0">
                        <a:buNone/>
                      </a:pPr>
                      <a:r>
                        <a:rPr lang="en-US" sz="1200" dirty="0">
                          <a:solidFill>
                            <a:schemeClr val="bg1"/>
                          </a:solidFill>
                          <a:latin typeface="Arial" pitchFamily="34" charset="0"/>
                          <a:ea typeface="Arial" pitchFamily="34" charset="-122"/>
                          <a:cs typeface="Arial" pitchFamily="34" charset="-120"/>
                        </a:rPr>
                        <a:t>First prompt</a:t>
                      </a:r>
                      <a:endParaRPr lang="en-US" sz="1200" dirty="0">
                        <a:latin typeface="Arial" charset="0"/>
                        <a:ea typeface="Arial" charset="0"/>
                        <a:cs typeface="Arial" charset="0"/>
                      </a:endParaRPr>
                    </a:p>
                  </a:txBody>
                  <a:tcPr marL="73152" marR="73152" marT="36576" marB="36576">
                    <a:lnL w="9525" cap="flat" cmpd="sng" algn="ctr">
                      <a:solidFill>
                        <a:srgbClr val="31363A"/>
                      </a:solidFill>
                      <a:prstDash val="solid"/>
                      <a:round/>
                      <a:headEnd type="none" w="med" len="med"/>
                      <a:tailEnd type="none" w="med" len="med"/>
                    </a:lnL>
                    <a:lnR w="9525" cap="flat" cmpd="sng" algn="ctr">
                      <a:solidFill>
                        <a:srgbClr val="31363A"/>
                      </a:solidFill>
                      <a:prstDash val="solid"/>
                      <a:round/>
                      <a:headEnd type="none" w="med" len="med"/>
                      <a:tailEnd type="none" w="med" len="med"/>
                    </a:lnR>
                    <a:lnT w="9525" cap="flat" cmpd="sng" algn="ctr">
                      <a:solidFill>
                        <a:srgbClr val="31363A"/>
                      </a:solidFill>
                      <a:prstDash val="solid"/>
                      <a:round/>
                      <a:headEnd type="none" w="med" len="med"/>
                      <a:tailEnd type="none" w="med" len="med"/>
                    </a:lnT>
                    <a:lnB w="9525" cap="flat" cmpd="sng" algn="ctr">
                      <a:solidFill>
                        <a:srgbClr val="31363A"/>
                      </a:solidFill>
                      <a:prstDash val="solid"/>
                      <a:round/>
                      <a:headEnd type="none" w="med" len="med"/>
                      <a:tailEnd type="none" w="med" len="med"/>
                    </a:lnB>
                    <a:solidFill>
                      <a:srgbClr val="0A0B0C"/>
                    </a:solidFill>
                  </a:tcPr>
                </a:tc>
                <a:tc>
                  <a:txBody>
                    <a:bodyPr/>
                    <a:lstStyle/>
                    <a:p>
                      <a:pPr indent="0" marL="0">
                        <a:buNone/>
                      </a:pPr>
                      <a:r>
                        <a:rPr lang="en-US" sz="1200" dirty="0">
                          <a:solidFill>
                            <a:schemeClr val="bg1"/>
                          </a:solidFill>
                          <a:latin typeface="Arial" pitchFamily="34" charset="0"/>
                          <a:ea typeface="Arial" pitchFamily="34" charset="-122"/>
                          <a:cs typeface="Arial" pitchFamily="34" charset="-120"/>
                        </a:rPr>
                        <a:t>1 / 4</a:t>
                      </a:r>
                      <a:endParaRPr lang="en-US" sz="1200" dirty="0">
                        <a:latin typeface="Arial" charset="0"/>
                        <a:ea typeface="Arial" charset="0"/>
                        <a:cs typeface="Arial" charset="0"/>
                      </a:endParaRPr>
                    </a:p>
                  </a:txBody>
                  <a:tcPr marL="73152" marR="73152" marT="36576" marB="36576">
                    <a:lnL w="9525" cap="flat" cmpd="sng" algn="ctr">
                      <a:solidFill>
                        <a:srgbClr val="31363A"/>
                      </a:solidFill>
                      <a:prstDash val="solid"/>
                      <a:round/>
                      <a:headEnd type="none" w="med" len="med"/>
                      <a:tailEnd type="none" w="med" len="med"/>
                    </a:lnL>
                    <a:lnR w="9525" cap="flat" cmpd="sng" algn="ctr">
                      <a:solidFill>
                        <a:srgbClr val="31363A"/>
                      </a:solidFill>
                      <a:prstDash val="solid"/>
                      <a:round/>
                      <a:headEnd type="none" w="med" len="med"/>
                      <a:tailEnd type="none" w="med" len="med"/>
                    </a:lnR>
                    <a:lnT w="9525" cap="flat" cmpd="sng" algn="ctr">
                      <a:solidFill>
                        <a:srgbClr val="31363A"/>
                      </a:solidFill>
                      <a:prstDash val="solid"/>
                      <a:round/>
                      <a:headEnd type="none" w="med" len="med"/>
                      <a:tailEnd type="none" w="med" len="med"/>
                    </a:lnT>
                    <a:lnB w="9525" cap="flat" cmpd="sng" algn="ctr">
                      <a:solidFill>
                        <a:srgbClr val="31363A"/>
                      </a:solidFill>
                      <a:prstDash val="solid"/>
                      <a:round/>
                      <a:headEnd type="none" w="med" len="med"/>
                      <a:tailEnd type="none" w="med" len="med"/>
                    </a:lnB>
                    <a:solidFill>
                      <a:srgbClr val="0A0B0C"/>
                    </a:solidFill>
                  </a:tcPr>
                </a:tc>
                <a:tc>
                  <a:txBody>
                    <a:bodyPr/>
                    <a:lstStyle/>
                    <a:p>
                      <a:pPr indent="0" marL="0">
                        <a:buNone/>
                      </a:pPr>
                      <a:r>
                        <a:rPr lang="en-US" sz="1200" dirty="0">
                          <a:solidFill>
                            <a:schemeClr val="bg1"/>
                          </a:solidFill>
                          <a:latin typeface="Arial" pitchFamily="34" charset="0"/>
                          <a:ea typeface="Arial" pitchFamily="34" charset="-122"/>
                          <a:cs typeface="Arial" pitchFamily="34" charset="-120"/>
                        </a:rPr>
                        <a:t>8 boxes</a:t>
                      </a:r>
                      <a:endParaRPr lang="en-US" sz="1200" dirty="0">
                        <a:latin typeface="Arial" charset="0"/>
                        <a:ea typeface="Arial" charset="0"/>
                        <a:cs typeface="Arial" charset="0"/>
                      </a:endParaRPr>
                    </a:p>
                  </a:txBody>
                  <a:tcPr marL="73152" marR="73152" marT="36576" marB="36576">
                    <a:lnL w="9525" cap="flat" cmpd="sng" algn="ctr">
                      <a:solidFill>
                        <a:srgbClr val="31363A"/>
                      </a:solidFill>
                      <a:prstDash val="solid"/>
                      <a:round/>
                      <a:headEnd type="none" w="med" len="med"/>
                      <a:tailEnd type="none" w="med" len="med"/>
                    </a:lnL>
                    <a:lnR w="9525" cap="flat" cmpd="sng" algn="ctr">
                      <a:solidFill>
                        <a:srgbClr val="31363A"/>
                      </a:solidFill>
                      <a:prstDash val="solid"/>
                      <a:round/>
                      <a:headEnd type="none" w="med" len="med"/>
                      <a:tailEnd type="none" w="med" len="med"/>
                    </a:lnR>
                    <a:lnT w="9525" cap="flat" cmpd="sng" algn="ctr">
                      <a:solidFill>
                        <a:srgbClr val="31363A"/>
                      </a:solidFill>
                      <a:prstDash val="solid"/>
                      <a:round/>
                      <a:headEnd type="none" w="med" len="med"/>
                      <a:tailEnd type="none" w="med" len="med"/>
                    </a:lnT>
                    <a:lnB w="9525" cap="flat" cmpd="sng" algn="ctr">
                      <a:solidFill>
                        <a:srgbClr val="31363A"/>
                      </a:solidFill>
                      <a:prstDash val="solid"/>
                      <a:round/>
                      <a:headEnd type="none" w="med" len="med"/>
                      <a:tailEnd type="none" w="med" len="med"/>
                    </a:lnB>
                    <a:solidFill>
                      <a:srgbClr val="0A0B0C"/>
                    </a:solidFill>
                  </a:tcPr>
                </a:tc>
                <a:tc>
                  <a:txBody>
                    <a:bodyPr/>
                    <a:lstStyle/>
                    <a:p>
                      <a:pPr indent="0" marL="0">
                        <a:buNone/>
                      </a:pPr>
                      <a:r>
                        <a:rPr lang="en-US" sz="1200" dirty="0">
                          <a:solidFill>
                            <a:schemeClr val="bg1"/>
                          </a:solidFill>
                          <a:latin typeface="Arial" pitchFamily="34" charset="0"/>
                          <a:ea typeface="Arial" pitchFamily="34" charset="-122"/>
                          <a:cs typeface="Arial" pitchFamily="34" charset="-120"/>
                        </a:rPr>
                        <a:t>0 of 2</a:t>
                      </a:r>
                      <a:endParaRPr lang="en-US" sz="1200" dirty="0">
                        <a:latin typeface="Arial" charset="0"/>
                        <a:ea typeface="Arial" charset="0"/>
                        <a:cs typeface="Arial" charset="0"/>
                      </a:endParaRPr>
                    </a:p>
                  </a:txBody>
                  <a:tcPr marL="73152" marR="73152" marT="36576" marB="36576">
                    <a:lnL w="9525" cap="flat" cmpd="sng" algn="ctr">
                      <a:solidFill>
                        <a:srgbClr val="31363A"/>
                      </a:solidFill>
                      <a:prstDash val="solid"/>
                      <a:round/>
                      <a:headEnd type="none" w="med" len="med"/>
                      <a:tailEnd type="none" w="med" len="med"/>
                    </a:lnL>
                    <a:lnR w="9525" cap="flat" cmpd="sng" algn="ctr">
                      <a:solidFill>
                        <a:srgbClr val="31363A"/>
                      </a:solidFill>
                      <a:prstDash val="solid"/>
                      <a:round/>
                      <a:headEnd type="none" w="med" len="med"/>
                      <a:tailEnd type="none" w="med" len="med"/>
                    </a:lnR>
                    <a:lnT w="9525" cap="flat" cmpd="sng" algn="ctr">
                      <a:solidFill>
                        <a:srgbClr val="31363A"/>
                      </a:solidFill>
                      <a:prstDash val="solid"/>
                      <a:round/>
                      <a:headEnd type="none" w="med" len="med"/>
                      <a:tailEnd type="none" w="med" len="med"/>
                    </a:lnT>
                    <a:lnB w="9525" cap="flat" cmpd="sng" algn="ctr">
                      <a:solidFill>
                        <a:srgbClr val="31363A"/>
                      </a:solidFill>
                      <a:prstDash val="solid"/>
                      <a:round/>
                      <a:headEnd type="none" w="med" len="med"/>
                      <a:tailEnd type="none" w="med" len="med"/>
                    </a:lnB>
                    <a:solidFill>
                      <a:srgbClr val="0A0B0C"/>
                    </a:solidFill>
                  </a:tcPr>
                </a:tc>
              </a:tr>
              <a:tr h="329184">
                <a:tc>
                  <a:txBody>
                    <a:bodyPr/>
                    <a:lstStyle/>
                    <a:p>
                      <a:pPr indent="0" marL="0">
                        <a:buNone/>
                      </a:pPr>
                      <a:r>
                        <a:rPr lang="en-US" sz="1200" b="1" dirty="0">
                          <a:solidFill>
                            <a:schemeClr val="accent1"/>
                          </a:solidFill>
                          <a:latin typeface="Arial" pitchFamily="34" charset="0"/>
                          <a:ea typeface="Arial" pitchFamily="34" charset="-122"/>
                          <a:cs typeface="Arial" pitchFamily="34" charset="-120"/>
                        </a:rPr>
                        <a:t>1 · production</a:t>
                      </a:r>
                      <a:endParaRPr lang="en-US" sz="1200" dirty="0">
                        <a:latin typeface="Arial" charset="0"/>
                        <a:ea typeface="Arial" charset="0"/>
                        <a:cs typeface="Arial" charset="0"/>
                      </a:endParaRPr>
                    </a:p>
                  </a:txBody>
                  <a:tcPr marL="73152" marR="73152" marT="36576" marB="36576">
                    <a:lnL w="9525" cap="flat" cmpd="sng" algn="ctr">
                      <a:solidFill>
                        <a:srgbClr val="31363A"/>
                      </a:solidFill>
                      <a:prstDash val="solid"/>
                      <a:round/>
                      <a:headEnd type="none" w="med" len="med"/>
                      <a:tailEnd type="none" w="med" len="med"/>
                    </a:lnL>
                    <a:lnR w="9525" cap="flat" cmpd="sng" algn="ctr">
                      <a:solidFill>
                        <a:srgbClr val="31363A"/>
                      </a:solidFill>
                      <a:prstDash val="solid"/>
                      <a:round/>
                      <a:headEnd type="none" w="med" len="med"/>
                      <a:tailEnd type="none" w="med" len="med"/>
                    </a:lnR>
                    <a:lnT w="9525" cap="flat" cmpd="sng" algn="ctr">
                      <a:solidFill>
                        <a:srgbClr val="31363A"/>
                      </a:solidFill>
                      <a:prstDash val="solid"/>
                      <a:round/>
                      <a:headEnd type="none" w="med" len="med"/>
                      <a:tailEnd type="none" w="med" len="med"/>
                    </a:lnT>
                    <a:lnB w="9525" cap="flat" cmpd="sng" algn="ctr">
                      <a:solidFill>
                        <a:srgbClr val="31363A"/>
                      </a:solidFill>
                      <a:prstDash val="solid"/>
                      <a:round/>
                      <a:headEnd type="none" w="med" len="med"/>
                      <a:tailEnd type="none" w="med" len="med"/>
                    </a:lnB>
                    <a:solidFill>
                      <a:srgbClr val="0A0B0C"/>
                    </a:solidFill>
                  </a:tcPr>
                </a:tc>
                <a:tc>
                  <a:txBody>
                    <a:bodyPr/>
                    <a:lstStyle/>
                    <a:p>
                      <a:pPr indent="0" marL="0">
                        <a:buNone/>
                      </a:pPr>
                      <a:r>
                        <a:rPr lang="en-US" sz="1200" dirty="0">
                          <a:solidFill>
                            <a:schemeClr val="bg1"/>
                          </a:solidFill>
                          <a:latin typeface="Arial" pitchFamily="34" charset="0"/>
                          <a:ea typeface="Arial" pitchFamily="34" charset="-122"/>
                          <a:cs typeface="Arial" pitchFamily="34" charset="-120"/>
                        </a:rPr>
                        <a:t>Shelf-by-shelf prompt</a:t>
                      </a:r>
                      <a:endParaRPr lang="en-US" sz="1200" dirty="0">
                        <a:latin typeface="Arial" charset="0"/>
                        <a:ea typeface="Arial" charset="0"/>
                        <a:cs typeface="Arial" charset="0"/>
                      </a:endParaRPr>
                    </a:p>
                  </a:txBody>
                  <a:tcPr marL="73152" marR="73152" marT="36576" marB="36576">
                    <a:lnL w="9525" cap="flat" cmpd="sng" algn="ctr">
                      <a:solidFill>
                        <a:srgbClr val="31363A"/>
                      </a:solidFill>
                      <a:prstDash val="solid"/>
                      <a:round/>
                      <a:headEnd type="none" w="med" len="med"/>
                      <a:tailEnd type="none" w="med" len="med"/>
                    </a:lnL>
                    <a:lnR w="9525" cap="flat" cmpd="sng" algn="ctr">
                      <a:solidFill>
                        <a:srgbClr val="31363A"/>
                      </a:solidFill>
                      <a:prstDash val="solid"/>
                      <a:round/>
                      <a:headEnd type="none" w="med" len="med"/>
                      <a:tailEnd type="none" w="med" len="med"/>
                    </a:lnR>
                    <a:lnT w="9525" cap="flat" cmpd="sng" algn="ctr">
                      <a:solidFill>
                        <a:srgbClr val="31363A"/>
                      </a:solidFill>
                      <a:prstDash val="solid"/>
                      <a:round/>
                      <a:headEnd type="none" w="med" len="med"/>
                      <a:tailEnd type="none" w="med" len="med"/>
                    </a:lnT>
                    <a:lnB w="9525" cap="flat" cmpd="sng" algn="ctr">
                      <a:solidFill>
                        <a:srgbClr val="31363A"/>
                      </a:solidFill>
                      <a:prstDash val="solid"/>
                      <a:round/>
                      <a:headEnd type="none" w="med" len="med"/>
                      <a:tailEnd type="none" w="med" len="med"/>
                    </a:lnB>
                    <a:solidFill>
                      <a:srgbClr val="0A0B0C"/>
                    </a:solidFill>
                  </a:tcPr>
                </a:tc>
                <a:tc>
                  <a:txBody>
                    <a:bodyPr/>
                    <a:lstStyle/>
                    <a:p>
                      <a:pPr indent="0" marL="0">
                        <a:buNone/>
                      </a:pPr>
                      <a:r>
                        <a:rPr lang="en-US" sz="1200" dirty="0">
                          <a:solidFill>
                            <a:schemeClr val="bg1"/>
                          </a:solidFill>
                          <a:latin typeface="Arial" pitchFamily="34" charset="0"/>
                          <a:ea typeface="Arial" pitchFamily="34" charset="-122"/>
                          <a:cs typeface="Arial" pitchFamily="34" charset="-120"/>
                        </a:rPr>
                        <a:t>3 / 4</a:t>
                      </a:r>
                      <a:endParaRPr lang="en-US" sz="1200" dirty="0">
                        <a:latin typeface="Arial" charset="0"/>
                        <a:ea typeface="Arial" charset="0"/>
                        <a:cs typeface="Arial" charset="0"/>
                      </a:endParaRPr>
                    </a:p>
                  </a:txBody>
                  <a:tcPr marL="73152" marR="73152" marT="36576" marB="36576">
                    <a:lnL w="9525" cap="flat" cmpd="sng" algn="ctr">
                      <a:solidFill>
                        <a:srgbClr val="31363A"/>
                      </a:solidFill>
                      <a:prstDash val="solid"/>
                      <a:round/>
                      <a:headEnd type="none" w="med" len="med"/>
                      <a:tailEnd type="none" w="med" len="med"/>
                    </a:lnL>
                    <a:lnR w="9525" cap="flat" cmpd="sng" algn="ctr">
                      <a:solidFill>
                        <a:srgbClr val="31363A"/>
                      </a:solidFill>
                      <a:prstDash val="solid"/>
                      <a:round/>
                      <a:headEnd type="none" w="med" len="med"/>
                      <a:tailEnd type="none" w="med" len="med"/>
                    </a:lnR>
                    <a:lnT w="9525" cap="flat" cmpd="sng" algn="ctr">
                      <a:solidFill>
                        <a:srgbClr val="31363A"/>
                      </a:solidFill>
                      <a:prstDash val="solid"/>
                      <a:round/>
                      <a:headEnd type="none" w="med" len="med"/>
                      <a:tailEnd type="none" w="med" len="med"/>
                    </a:lnT>
                    <a:lnB w="9525" cap="flat" cmpd="sng" algn="ctr">
                      <a:solidFill>
                        <a:srgbClr val="31363A"/>
                      </a:solidFill>
                      <a:prstDash val="solid"/>
                      <a:round/>
                      <a:headEnd type="none" w="med" len="med"/>
                      <a:tailEnd type="none" w="med" len="med"/>
                    </a:lnB>
                    <a:solidFill>
                      <a:srgbClr val="0A0B0C"/>
                    </a:solidFill>
                  </a:tcPr>
                </a:tc>
                <a:tc>
                  <a:txBody>
                    <a:bodyPr/>
                    <a:lstStyle/>
                    <a:p>
                      <a:pPr indent="0" marL="0">
                        <a:buNone/>
                      </a:pPr>
                      <a:r>
                        <a:rPr lang="en-US" sz="1200" dirty="0">
                          <a:solidFill>
                            <a:schemeClr val="bg1"/>
                          </a:solidFill>
                          <a:latin typeface="Arial" pitchFamily="34" charset="0"/>
                          <a:ea typeface="Arial" pitchFamily="34" charset="-122"/>
                          <a:cs typeface="Arial" pitchFamily="34" charset="-120"/>
                        </a:rPr>
                        <a:t>1 box</a:t>
                      </a:r>
                      <a:endParaRPr lang="en-US" sz="1200" dirty="0">
                        <a:latin typeface="Arial" charset="0"/>
                        <a:ea typeface="Arial" charset="0"/>
                        <a:cs typeface="Arial" charset="0"/>
                      </a:endParaRPr>
                    </a:p>
                  </a:txBody>
                  <a:tcPr marL="73152" marR="73152" marT="36576" marB="36576">
                    <a:lnL w="9525" cap="flat" cmpd="sng" algn="ctr">
                      <a:solidFill>
                        <a:srgbClr val="31363A"/>
                      </a:solidFill>
                      <a:prstDash val="solid"/>
                      <a:round/>
                      <a:headEnd type="none" w="med" len="med"/>
                      <a:tailEnd type="none" w="med" len="med"/>
                    </a:lnL>
                    <a:lnR w="9525" cap="flat" cmpd="sng" algn="ctr">
                      <a:solidFill>
                        <a:srgbClr val="31363A"/>
                      </a:solidFill>
                      <a:prstDash val="solid"/>
                      <a:round/>
                      <a:headEnd type="none" w="med" len="med"/>
                      <a:tailEnd type="none" w="med" len="med"/>
                    </a:lnR>
                    <a:lnT w="9525" cap="flat" cmpd="sng" algn="ctr">
                      <a:solidFill>
                        <a:srgbClr val="31363A"/>
                      </a:solidFill>
                      <a:prstDash val="solid"/>
                      <a:round/>
                      <a:headEnd type="none" w="med" len="med"/>
                      <a:tailEnd type="none" w="med" len="med"/>
                    </a:lnT>
                    <a:lnB w="9525" cap="flat" cmpd="sng" algn="ctr">
                      <a:solidFill>
                        <a:srgbClr val="31363A"/>
                      </a:solidFill>
                      <a:prstDash val="solid"/>
                      <a:round/>
                      <a:headEnd type="none" w="med" len="med"/>
                      <a:tailEnd type="none" w="med" len="med"/>
                    </a:lnB>
                    <a:solidFill>
                      <a:srgbClr val="0A0B0C"/>
                    </a:solidFill>
                  </a:tcPr>
                </a:tc>
                <a:tc>
                  <a:txBody>
                    <a:bodyPr/>
                    <a:lstStyle/>
                    <a:p>
                      <a:pPr indent="0" marL="0">
                        <a:buNone/>
                      </a:pPr>
                      <a:r>
                        <a:rPr lang="en-US" sz="1200" dirty="0">
                          <a:solidFill>
                            <a:schemeClr val="bg1"/>
                          </a:solidFill>
                          <a:latin typeface="Arial" pitchFamily="34" charset="0"/>
                          <a:ea typeface="Arial" pitchFamily="34" charset="-122"/>
                          <a:cs typeface="Arial" pitchFamily="34" charset="-120"/>
                        </a:rPr>
                        <a:t>0 of 3</a:t>
                      </a:r>
                      <a:endParaRPr lang="en-US" sz="1200" dirty="0">
                        <a:latin typeface="Arial" charset="0"/>
                        <a:ea typeface="Arial" charset="0"/>
                        <a:cs typeface="Arial" charset="0"/>
                      </a:endParaRPr>
                    </a:p>
                  </a:txBody>
                  <a:tcPr marL="73152" marR="73152" marT="36576" marB="36576">
                    <a:lnL w="9525" cap="flat" cmpd="sng" algn="ctr">
                      <a:solidFill>
                        <a:srgbClr val="31363A"/>
                      </a:solidFill>
                      <a:prstDash val="solid"/>
                      <a:round/>
                      <a:headEnd type="none" w="med" len="med"/>
                      <a:tailEnd type="none" w="med" len="med"/>
                    </a:lnL>
                    <a:lnR w="9525" cap="flat" cmpd="sng" algn="ctr">
                      <a:solidFill>
                        <a:srgbClr val="31363A"/>
                      </a:solidFill>
                      <a:prstDash val="solid"/>
                      <a:round/>
                      <a:headEnd type="none" w="med" len="med"/>
                      <a:tailEnd type="none" w="med" len="med"/>
                    </a:lnR>
                    <a:lnT w="9525" cap="flat" cmpd="sng" algn="ctr">
                      <a:solidFill>
                        <a:srgbClr val="31363A"/>
                      </a:solidFill>
                      <a:prstDash val="solid"/>
                      <a:round/>
                      <a:headEnd type="none" w="med" len="med"/>
                      <a:tailEnd type="none" w="med" len="med"/>
                    </a:lnT>
                    <a:lnB w="9525" cap="flat" cmpd="sng" algn="ctr">
                      <a:solidFill>
                        <a:srgbClr val="31363A"/>
                      </a:solidFill>
                      <a:prstDash val="solid"/>
                      <a:round/>
                      <a:headEnd type="none" w="med" len="med"/>
                      <a:tailEnd type="none" w="med" len="med"/>
                    </a:lnB>
                    <a:solidFill>
                      <a:srgbClr val="0A0B0C"/>
                    </a:solidFill>
                  </a:tcPr>
                </a:tc>
              </a:tr>
              <a:tr h="329184">
                <a:tc>
                  <a:txBody>
                    <a:bodyPr/>
                    <a:lstStyle/>
                    <a:p>
                      <a:pPr indent="0" marL="0">
                        <a:buNone/>
                      </a:pPr>
                      <a:r>
                        <a:rPr lang="en-US" sz="1200" dirty="0">
                          <a:solidFill>
                            <a:schemeClr val="bg1"/>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73152" marR="73152" marT="36576" marB="36576">
                    <a:lnL w="9525" cap="flat" cmpd="sng" algn="ctr">
                      <a:solidFill>
                        <a:srgbClr val="31363A"/>
                      </a:solidFill>
                      <a:prstDash val="solid"/>
                      <a:round/>
                      <a:headEnd type="none" w="med" len="med"/>
                      <a:tailEnd type="none" w="med" len="med"/>
                    </a:lnL>
                    <a:lnR w="9525" cap="flat" cmpd="sng" algn="ctr">
                      <a:solidFill>
                        <a:srgbClr val="31363A"/>
                      </a:solidFill>
                      <a:prstDash val="solid"/>
                      <a:round/>
                      <a:headEnd type="none" w="med" len="med"/>
                      <a:tailEnd type="none" w="med" len="med"/>
                    </a:lnR>
                    <a:lnT w="9525" cap="flat" cmpd="sng" algn="ctr">
                      <a:solidFill>
                        <a:srgbClr val="31363A"/>
                      </a:solidFill>
                      <a:prstDash val="solid"/>
                      <a:round/>
                      <a:headEnd type="none" w="med" len="med"/>
                      <a:tailEnd type="none" w="med" len="med"/>
                    </a:lnT>
                    <a:lnB w="9525" cap="flat" cmpd="sng" algn="ctr">
                      <a:solidFill>
                        <a:srgbClr val="31363A"/>
                      </a:solidFill>
                      <a:prstDash val="solid"/>
                      <a:round/>
                      <a:headEnd type="none" w="med" len="med"/>
                      <a:tailEnd type="none" w="med" len="med"/>
                    </a:lnB>
                    <a:solidFill>
                      <a:srgbClr val="0A0B0C"/>
                    </a:solidFill>
                  </a:tcPr>
                </a:tc>
                <a:tc>
                  <a:txBody>
                    <a:bodyPr/>
                    <a:lstStyle/>
                    <a:p>
                      <a:pPr indent="0" marL="0">
                        <a:buNone/>
                      </a:pPr>
                      <a:r>
                        <a:rPr lang="en-US" sz="1200" dirty="0">
                          <a:solidFill>
                            <a:schemeClr val="bg1"/>
                          </a:solidFill>
                          <a:latin typeface="Arial" pitchFamily="34" charset="0"/>
                          <a:ea typeface="Arial" pitchFamily="34" charset="-122"/>
                          <a:cs typeface="Arial" pitchFamily="34" charset="-120"/>
                        </a:rPr>
                        <a:t>1536 px instead of 1024</a:t>
                      </a:r>
                      <a:endParaRPr lang="en-US" sz="1200" dirty="0">
                        <a:latin typeface="Arial" charset="0"/>
                        <a:ea typeface="Arial" charset="0"/>
                        <a:cs typeface="Arial" charset="0"/>
                      </a:endParaRPr>
                    </a:p>
                  </a:txBody>
                  <a:tcPr marL="73152" marR="73152" marT="36576" marB="36576">
                    <a:lnL w="9525" cap="flat" cmpd="sng" algn="ctr">
                      <a:solidFill>
                        <a:srgbClr val="31363A"/>
                      </a:solidFill>
                      <a:prstDash val="solid"/>
                      <a:round/>
                      <a:headEnd type="none" w="med" len="med"/>
                      <a:tailEnd type="none" w="med" len="med"/>
                    </a:lnL>
                    <a:lnR w="9525" cap="flat" cmpd="sng" algn="ctr">
                      <a:solidFill>
                        <a:srgbClr val="31363A"/>
                      </a:solidFill>
                      <a:prstDash val="solid"/>
                      <a:round/>
                      <a:headEnd type="none" w="med" len="med"/>
                      <a:tailEnd type="none" w="med" len="med"/>
                    </a:lnR>
                    <a:lnT w="9525" cap="flat" cmpd="sng" algn="ctr">
                      <a:solidFill>
                        <a:srgbClr val="31363A"/>
                      </a:solidFill>
                      <a:prstDash val="solid"/>
                      <a:round/>
                      <a:headEnd type="none" w="med" len="med"/>
                      <a:tailEnd type="none" w="med" len="med"/>
                    </a:lnT>
                    <a:lnB w="9525" cap="flat" cmpd="sng" algn="ctr">
                      <a:solidFill>
                        <a:srgbClr val="31363A"/>
                      </a:solidFill>
                      <a:prstDash val="solid"/>
                      <a:round/>
                      <a:headEnd type="none" w="med" len="med"/>
                      <a:tailEnd type="none" w="med" len="med"/>
                    </a:lnB>
                    <a:solidFill>
                      <a:srgbClr val="0A0B0C"/>
                    </a:solidFill>
                  </a:tcPr>
                </a:tc>
                <a:tc>
                  <a:txBody>
                    <a:bodyPr/>
                    <a:lstStyle/>
                    <a:p>
                      <a:pPr indent="0" marL="0">
                        <a:buNone/>
                      </a:pPr>
                      <a:r>
                        <a:rPr lang="en-US" sz="1200" dirty="0">
                          <a:solidFill>
                            <a:schemeClr val="bg1"/>
                          </a:solidFill>
                          <a:latin typeface="Arial" pitchFamily="34" charset="0"/>
                          <a:ea typeface="Arial" pitchFamily="34" charset="-122"/>
                          <a:cs typeface="Arial" pitchFamily="34" charset="-120"/>
                        </a:rPr>
                        <a:t>3 / 4</a:t>
                      </a:r>
                      <a:endParaRPr lang="en-US" sz="1200" dirty="0">
                        <a:latin typeface="Arial" charset="0"/>
                        <a:ea typeface="Arial" charset="0"/>
                        <a:cs typeface="Arial" charset="0"/>
                      </a:endParaRPr>
                    </a:p>
                  </a:txBody>
                  <a:tcPr marL="73152" marR="73152" marT="36576" marB="36576">
                    <a:lnL w="9525" cap="flat" cmpd="sng" algn="ctr">
                      <a:solidFill>
                        <a:srgbClr val="31363A"/>
                      </a:solidFill>
                      <a:prstDash val="solid"/>
                      <a:round/>
                      <a:headEnd type="none" w="med" len="med"/>
                      <a:tailEnd type="none" w="med" len="med"/>
                    </a:lnL>
                    <a:lnR w="9525" cap="flat" cmpd="sng" algn="ctr">
                      <a:solidFill>
                        <a:srgbClr val="31363A"/>
                      </a:solidFill>
                      <a:prstDash val="solid"/>
                      <a:round/>
                      <a:headEnd type="none" w="med" len="med"/>
                      <a:tailEnd type="none" w="med" len="med"/>
                    </a:lnR>
                    <a:lnT w="9525" cap="flat" cmpd="sng" algn="ctr">
                      <a:solidFill>
                        <a:srgbClr val="31363A"/>
                      </a:solidFill>
                      <a:prstDash val="solid"/>
                      <a:round/>
                      <a:headEnd type="none" w="med" len="med"/>
                      <a:tailEnd type="none" w="med" len="med"/>
                    </a:lnT>
                    <a:lnB w="9525" cap="flat" cmpd="sng" algn="ctr">
                      <a:solidFill>
                        <a:srgbClr val="31363A"/>
                      </a:solidFill>
                      <a:prstDash val="solid"/>
                      <a:round/>
                      <a:headEnd type="none" w="med" len="med"/>
                      <a:tailEnd type="none" w="med" len="med"/>
                    </a:lnB>
                    <a:solidFill>
                      <a:srgbClr val="0A0B0C"/>
                    </a:solidFill>
                  </a:tcPr>
                </a:tc>
                <a:tc>
                  <a:txBody>
                    <a:bodyPr/>
                    <a:lstStyle/>
                    <a:p>
                      <a:pPr indent="0" marL="0">
                        <a:buNone/>
                      </a:pPr>
                      <a:r>
                        <a:rPr lang="en-US" sz="1200" dirty="0">
                          <a:solidFill>
                            <a:schemeClr val="bg1"/>
                          </a:solidFill>
                          <a:latin typeface="Arial" pitchFamily="34" charset="0"/>
                          <a:ea typeface="Arial" pitchFamily="34" charset="-122"/>
                          <a:cs typeface="Arial" pitchFamily="34" charset="-120"/>
                        </a:rPr>
                        <a:t>1 box</a:t>
                      </a:r>
                      <a:endParaRPr lang="en-US" sz="1200" dirty="0">
                        <a:latin typeface="Arial" charset="0"/>
                        <a:ea typeface="Arial" charset="0"/>
                        <a:cs typeface="Arial" charset="0"/>
                      </a:endParaRPr>
                    </a:p>
                  </a:txBody>
                  <a:tcPr marL="73152" marR="73152" marT="36576" marB="36576">
                    <a:lnL w="9525" cap="flat" cmpd="sng" algn="ctr">
                      <a:solidFill>
                        <a:srgbClr val="31363A"/>
                      </a:solidFill>
                      <a:prstDash val="solid"/>
                      <a:round/>
                      <a:headEnd type="none" w="med" len="med"/>
                      <a:tailEnd type="none" w="med" len="med"/>
                    </a:lnL>
                    <a:lnR w="9525" cap="flat" cmpd="sng" algn="ctr">
                      <a:solidFill>
                        <a:srgbClr val="31363A"/>
                      </a:solidFill>
                      <a:prstDash val="solid"/>
                      <a:round/>
                      <a:headEnd type="none" w="med" len="med"/>
                      <a:tailEnd type="none" w="med" len="med"/>
                    </a:lnR>
                    <a:lnT w="9525" cap="flat" cmpd="sng" algn="ctr">
                      <a:solidFill>
                        <a:srgbClr val="31363A"/>
                      </a:solidFill>
                      <a:prstDash val="solid"/>
                      <a:round/>
                      <a:headEnd type="none" w="med" len="med"/>
                      <a:tailEnd type="none" w="med" len="med"/>
                    </a:lnT>
                    <a:lnB w="9525" cap="flat" cmpd="sng" algn="ctr">
                      <a:solidFill>
                        <a:srgbClr val="31363A"/>
                      </a:solidFill>
                      <a:prstDash val="solid"/>
                      <a:round/>
                      <a:headEnd type="none" w="med" len="med"/>
                      <a:tailEnd type="none" w="med" len="med"/>
                    </a:lnB>
                    <a:solidFill>
                      <a:srgbClr val="0A0B0C"/>
                    </a:solidFill>
                  </a:tcPr>
                </a:tc>
                <a:tc>
                  <a:txBody>
                    <a:bodyPr/>
                    <a:lstStyle/>
                    <a:p>
                      <a:pPr indent="0" marL="0">
                        <a:buNone/>
                      </a:pPr>
                      <a:r>
                        <a:rPr lang="en-US" sz="1200" dirty="0">
                          <a:solidFill>
                            <a:schemeClr val="bg1"/>
                          </a:solidFill>
                          <a:latin typeface="Arial" pitchFamily="34" charset="0"/>
                          <a:ea typeface="Arial" pitchFamily="34" charset="-122"/>
                          <a:cs typeface="Arial" pitchFamily="34" charset="-120"/>
                        </a:rPr>
                        <a:t>0 of 6</a:t>
                      </a:r>
                      <a:endParaRPr lang="en-US" sz="1200" dirty="0">
                        <a:latin typeface="Arial" charset="0"/>
                        <a:ea typeface="Arial" charset="0"/>
                        <a:cs typeface="Arial" charset="0"/>
                      </a:endParaRPr>
                    </a:p>
                  </a:txBody>
                  <a:tcPr marL="73152" marR="73152" marT="36576" marB="36576">
                    <a:lnL w="9525" cap="flat" cmpd="sng" algn="ctr">
                      <a:solidFill>
                        <a:srgbClr val="31363A"/>
                      </a:solidFill>
                      <a:prstDash val="solid"/>
                      <a:round/>
                      <a:headEnd type="none" w="med" len="med"/>
                      <a:tailEnd type="none" w="med" len="med"/>
                    </a:lnL>
                    <a:lnR w="9525" cap="flat" cmpd="sng" algn="ctr">
                      <a:solidFill>
                        <a:srgbClr val="31363A"/>
                      </a:solidFill>
                      <a:prstDash val="solid"/>
                      <a:round/>
                      <a:headEnd type="none" w="med" len="med"/>
                      <a:tailEnd type="none" w="med" len="med"/>
                    </a:lnR>
                    <a:lnT w="9525" cap="flat" cmpd="sng" algn="ctr">
                      <a:solidFill>
                        <a:srgbClr val="31363A"/>
                      </a:solidFill>
                      <a:prstDash val="solid"/>
                      <a:round/>
                      <a:headEnd type="none" w="med" len="med"/>
                      <a:tailEnd type="none" w="med" len="med"/>
                    </a:lnT>
                    <a:lnB w="9525" cap="flat" cmpd="sng" algn="ctr">
                      <a:solidFill>
                        <a:srgbClr val="31363A"/>
                      </a:solidFill>
                      <a:prstDash val="solid"/>
                      <a:round/>
                      <a:headEnd type="none" w="med" len="med"/>
                      <a:tailEnd type="none" w="med" len="med"/>
                    </a:lnB>
                    <a:solidFill>
                      <a:srgbClr val="0A0B0C"/>
                    </a:solidFill>
                  </a:tcPr>
                </a:tc>
              </a:tr>
              <a:tr h="329184">
                <a:tc>
                  <a:txBody>
                    <a:bodyPr/>
                    <a:lstStyle/>
                    <a:p>
                      <a:pPr indent="0" marL="0">
                        <a:buNone/>
                      </a:pPr>
                      <a:r>
                        <a:rPr lang="en-US" sz="1200" dirty="0">
                          <a:solidFill>
                            <a:schemeClr val="bg1"/>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73152" marR="73152" marT="36576" marB="36576">
                    <a:lnL w="9525" cap="flat" cmpd="sng" algn="ctr">
                      <a:solidFill>
                        <a:srgbClr val="31363A"/>
                      </a:solidFill>
                      <a:prstDash val="solid"/>
                      <a:round/>
                      <a:headEnd type="none" w="med" len="med"/>
                      <a:tailEnd type="none" w="med" len="med"/>
                    </a:lnL>
                    <a:lnR w="9525" cap="flat" cmpd="sng" algn="ctr">
                      <a:solidFill>
                        <a:srgbClr val="31363A"/>
                      </a:solidFill>
                      <a:prstDash val="solid"/>
                      <a:round/>
                      <a:headEnd type="none" w="med" len="med"/>
                      <a:tailEnd type="none" w="med" len="med"/>
                    </a:lnR>
                    <a:lnT w="9525" cap="flat" cmpd="sng" algn="ctr">
                      <a:solidFill>
                        <a:srgbClr val="31363A"/>
                      </a:solidFill>
                      <a:prstDash val="solid"/>
                      <a:round/>
                      <a:headEnd type="none" w="med" len="med"/>
                      <a:tailEnd type="none" w="med" len="med"/>
                    </a:lnT>
                    <a:lnB w="9525" cap="flat" cmpd="sng" algn="ctr">
                      <a:solidFill>
                        <a:srgbClr val="31363A"/>
                      </a:solidFill>
                      <a:prstDash val="solid"/>
                      <a:round/>
                      <a:headEnd type="none" w="med" len="med"/>
                      <a:tailEnd type="none" w="med" len="med"/>
                    </a:lnB>
                    <a:solidFill>
                      <a:srgbClr val="0A0B0C"/>
                    </a:solidFill>
                  </a:tcPr>
                </a:tc>
                <a:tc>
                  <a:txBody>
                    <a:bodyPr/>
                    <a:lstStyle/>
                    <a:p>
                      <a:pPr indent="0" marL="0">
                        <a:buNone/>
                      </a:pPr>
                      <a:r>
                        <a:rPr lang="en-US" sz="1200" dirty="0">
                          <a:solidFill>
                            <a:schemeClr val="bg1"/>
                          </a:solidFill>
                          <a:latin typeface="Arial" pitchFamily="34" charset="0"/>
                          <a:ea typeface="Arial" pitchFamily="34" charset="-122"/>
                          <a:cs typeface="Arial" pitchFamily="34" charset="-120"/>
                        </a:rPr>
                        <a:t>MiniCPM-V instead of Gemma</a:t>
                      </a:r>
                      <a:endParaRPr lang="en-US" sz="1200" dirty="0">
                        <a:latin typeface="Arial" charset="0"/>
                        <a:ea typeface="Arial" charset="0"/>
                        <a:cs typeface="Arial" charset="0"/>
                      </a:endParaRPr>
                    </a:p>
                  </a:txBody>
                  <a:tcPr marL="73152" marR="73152" marT="36576" marB="36576">
                    <a:lnL w="9525" cap="flat" cmpd="sng" algn="ctr">
                      <a:solidFill>
                        <a:srgbClr val="31363A"/>
                      </a:solidFill>
                      <a:prstDash val="solid"/>
                      <a:round/>
                      <a:headEnd type="none" w="med" len="med"/>
                      <a:tailEnd type="none" w="med" len="med"/>
                    </a:lnL>
                    <a:lnR w="9525" cap="flat" cmpd="sng" algn="ctr">
                      <a:solidFill>
                        <a:srgbClr val="31363A"/>
                      </a:solidFill>
                      <a:prstDash val="solid"/>
                      <a:round/>
                      <a:headEnd type="none" w="med" len="med"/>
                      <a:tailEnd type="none" w="med" len="med"/>
                    </a:lnR>
                    <a:lnT w="9525" cap="flat" cmpd="sng" algn="ctr">
                      <a:solidFill>
                        <a:srgbClr val="31363A"/>
                      </a:solidFill>
                      <a:prstDash val="solid"/>
                      <a:round/>
                      <a:headEnd type="none" w="med" len="med"/>
                      <a:tailEnd type="none" w="med" len="med"/>
                    </a:lnT>
                    <a:lnB w="9525" cap="flat" cmpd="sng" algn="ctr">
                      <a:solidFill>
                        <a:srgbClr val="31363A"/>
                      </a:solidFill>
                      <a:prstDash val="solid"/>
                      <a:round/>
                      <a:headEnd type="none" w="med" len="med"/>
                      <a:tailEnd type="none" w="med" len="med"/>
                    </a:lnB>
                    <a:solidFill>
                      <a:srgbClr val="0A0B0C"/>
                    </a:solidFill>
                  </a:tcPr>
                </a:tc>
                <a:tc>
                  <a:txBody>
                    <a:bodyPr/>
                    <a:lstStyle/>
                    <a:p>
                      <a:pPr indent="0" marL="0">
                        <a:buNone/>
                      </a:pPr>
                      <a:r>
                        <a:rPr lang="en-US" sz="1200" dirty="0">
                          <a:solidFill>
                            <a:schemeClr val="bg1"/>
                          </a:solidFill>
                          <a:latin typeface="Arial" pitchFamily="34" charset="0"/>
                          <a:ea typeface="Arial" pitchFamily="34" charset="-122"/>
                          <a:cs typeface="Arial" pitchFamily="34" charset="-120"/>
                        </a:rPr>
                        <a:t>3 / 4</a:t>
                      </a:r>
                      <a:endParaRPr lang="en-US" sz="1200" dirty="0">
                        <a:latin typeface="Arial" charset="0"/>
                        <a:ea typeface="Arial" charset="0"/>
                        <a:cs typeface="Arial" charset="0"/>
                      </a:endParaRPr>
                    </a:p>
                  </a:txBody>
                  <a:tcPr marL="73152" marR="73152" marT="36576" marB="36576">
                    <a:lnL w="9525" cap="flat" cmpd="sng" algn="ctr">
                      <a:solidFill>
                        <a:srgbClr val="31363A"/>
                      </a:solidFill>
                      <a:prstDash val="solid"/>
                      <a:round/>
                      <a:headEnd type="none" w="med" len="med"/>
                      <a:tailEnd type="none" w="med" len="med"/>
                    </a:lnL>
                    <a:lnR w="9525" cap="flat" cmpd="sng" algn="ctr">
                      <a:solidFill>
                        <a:srgbClr val="31363A"/>
                      </a:solidFill>
                      <a:prstDash val="solid"/>
                      <a:round/>
                      <a:headEnd type="none" w="med" len="med"/>
                      <a:tailEnd type="none" w="med" len="med"/>
                    </a:lnR>
                    <a:lnT w="9525" cap="flat" cmpd="sng" algn="ctr">
                      <a:solidFill>
                        <a:srgbClr val="31363A"/>
                      </a:solidFill>
                      <a:prstDash val="solid"/>
                      <a:round/>
                      <a:headEnd type="none" w="med" len="med"/>
                      <a:tailEnd type="none" w="med" len="med"/>
                    </a:lnT>
                    <a:lnB w="9525" cap="flat" cmpd="sng" algn="ctr">
                      <a:solidFill>
                        <a:srgbClr val="31363A"/>
                      </a:solidFill>
                      <a:prstDash val="solid"/>
                      <a:round/>
                      <a:headEnd type="none" w="med" len="med"/>
                      <a:tailEnd type="none" w="med" len="med"/>
                    </a:lnB>
                    <a:solidFill>
                      <a:srgbClr val="0A0B0C"/>
                    </a:solidFill>
                  </a:tcPr>
                </a:tc>
                <a:tc>
                  <a:txBody>
                    <a:bodyPr/>
                    <a:lstStyle/>
                    <a:p>
                      <a:pPr indent="0" marL="0">
                        <a:buNone/>
                      </a:pPr>
                      <a:r>
                        <a:rPr lang="en-US" sz="1200" dirty="0">
                          <a:solidFill>
                            <a:schemeClr val="bg1"/>
                          </a:solidFill>
                          <a:latin typeface="Arial" pitchFamily="34" charset="0"/>
                          <a:ea typeface="Arial" pitchFamily="34" charset="-122"/>
                          <a:cs typeface="Arial" pitchFamily="34" charset="-120"/>
                        </a:rPr>
                        <a:t>1 box</a:t>
                      </a:r>
                      <a:endParaRPr lang="en-US" sz="1200" dirty="0">
                        <a:latin typeface="Arial" charset="0"/>
                        <a:ea typeface="Arial" charset="0"/>
                        <a:cs typeface="Arial" charset="0"/>
                      </a:endParaRPr>
                    </a:p>
                  </a:txBody>
                  <a:tcPr marL="73152" marR="73152" marT="36576" marB="36576">
                    <a:lnL w="9525" cap="flat" cmpd="sng" algn="ctr">
                      <a:solidFill>
                        <a:srgbClr val="31363A"/>
                      </a:solidFill>
                      <a:prstDash val="solid"/>
                      <a:round/>
                      <a:headEnd type="none" w="med" len="med"/>
                      <a:tailEnd type="none" w="med" len="med"/>
                    </a:lnL>
                    <a:lnR w="9525" cap="flat" cmpd="sng" algn="ctr">
                      <a:solidFill>
                        <a:srgbClr val="31363A"/>
                      </a:solidFill>
                      <a:prstDash val="solid"/>
                      <a:round/>
                      <a:headEnd type="none" w="med" len="med"/>
                      <a:tailEnd type="none" w="med" len="med"/>
                    </a:lnR>
                    <a:lnT w="9525" cap="flat" cmpd="sng" algn="ctr">
                      <a:solidFill>
                        <a:srgbClr val="31363A"/>
                      </a:solidFill>
                      <a:prstDash val="solid"/>
                      <a:round/>
                      <a:headEnd type="none" w="med" len="med"/>
                      <a:tailEnd type="none" w="med" len="med"/>
                    </a:lnT>
                    <a:lnB w="9525" cap="flat" cmpd="sng" algn="ctr">
                      <a:solidFill>
                        <a:srgbClr val="31363A"/>
                      </a:solidFill>
                      <a:prstDash val="solid"/>
                      <a:round/>
                      <a:headEnd type="none" w="med" len="med"/>
                      <a:tailEnd type="none" w="med" len="med"/>
                    </a:lnB>
                    <a:solidFill>
                      <a:srgbClr val="0A0B0C"/>
                    </a:solidFill>
                  </a:tcPr>
                </a:tc>
                <a:tc>
                  <a:txBody>
                    <a:bodyPr/>
                    <a:lstStyle/>
                    <a:p>
                      <a:pPr indent="0" marL="0">
                        <a:buNone/>
                      </a:pPr>
                      <a:r>
                        <a:rPr lang="en-US" sz="1200" dirty="0">
                          <a:solidFill>
                            <a:schemeClr val="bg1"/>
                          </a:solidFill>
                          <a:latin typeface="Arial" pitchFamily="34" charset="0"/>
                          <a:ea typeface="Arial" pitchFamily="34" charset="-122"/>
                          <a:cs typeface="Arial" pitchFamily="34" charset="-120"/>
                        </a:rPr>
                        <a:t>0 of 2</a:t>
                      </a:r>
                      <a:endParaRPr lang="en-US" sz="1200" dirty="0">
                        <a:latin typeface="Arial" charset="0"/>
                        <a:ea typeface="Arial" charset="0"/>
                        <a:cs typeface="Arial" charset="0"/>
                      </a:endParaRPr>
                    </a:p>
                  </a:txBody>
                  <a:tcPr marL="73152" marR="73152" marT="36576" marB="36576">
                    <a:lnL w="9525" cap="flat" cmpd="sng" algn="ctr">
                      <a:solidFill>
                        <a:srgbClr val="31363A"/>
                      </a:solidFill>
                      <a:prstDash val="solid"/>
                      <a:round/>
                      <a:headEnd type="none" w="med" len="med"/>
                      <a:tailEnd type="none" w="med" len="med"/>
                    </a:lnL>
                    <a:lnR w="9525" cap="flat" cmpd="sng" algn="ctr">
                      <a:solidFill>
                        <a:srgbClr val="31363A"/>
                      </a:solidFill>
                      <a:prstDash val="solid"/>
                      <a:round/>
                      <a:headEnd type="none" w="med" len="med"/>
                      <a:tailEnd type="none" w="med" len="med"/>
                    </a:lnR>
                    <a:lnT w="9525" cap="flat" cmpd="sng" algn="ctr">
                      <a:solidFill>
                        <a:srgbClr val="31363A"/>
                      </a:solidFill>
                      <a:prstDash val="solid"/>
                      <a:round/>
                      <a:headEnd type="none" w="med" len="med"/>
                      <a:tailEnd type="none" w="med" len="med"/>
                    </a:lnT>
                    <a:lnB w="9525" cap="flat" cmpd="sng" algn="ctr">
                      <a:solidFill>
                        <a:srgbClr val="31363A"/>
                      </a:solidFill>
                      <a:prstDash val="solid"/>
                      <a:round/>
                      <a:headEnd type="none" w="med" len="med"/>
                      <a:tailEnd type="none" w="med" len="med"/>
                    </a:lnB>
                    <a:solidFill>
                      <a:srgbClr val="0A0B0C"/>
                    </a:solidFill>
                  </a:tcPr>
                </a:tc>
              </a:tr>
              <a:tr h="329184">
                <a:tc>
                  <a:txBody>
                    <a:bodyPr/>
                    <a:lstStyle/>
                    <a:p>
                      <a:pPr indent="0" marL="0">
                        <a:buNone/>
                      </a:pPr>
                      <a:r>
                        <a:rPr lang="en-US" sz="1200" dirty="0">
                          <a:solidFill>
                            <a:schemeClr val="bg1"/>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73152" marR="73152" marT="36576" marB="36576">
                    <a:lnL w="9525" cap="flat" cmpd="sng" algn="ctr">
                      <a:solidFill>
                        <a:srgbClr val="31363A"/>
                      </a:solidFill>
                      <a:prstDash val="solid"/>
                      <a:round/>
                      <a:headEnd type="none" w="med" len="med"/>
                      <a:tailEnd type="none" w="med" len="med"/>
                    </a:lnL>
                    <a:lnR w="9525" cap="flat" cmpd="sng" algn="ctr">
                      <a:solidFill>
                        <a:srgbClr val="31363A"/>
                      </a:solidFill>
                      <a:prstDash val="solid"/>
                      <a:round/>
                      <a:headEnd type="none" w="med" len="med"/>
                      <a:tailEnd type="none" w="med" len="med"/>
                    </a:lnR>
                    <a:lnT w="9525" cap="flat" cmpd="sng" algn="ctr">
                      <a:solidFill>
                        <a:srgbClr val="31363A"/>
                      </a:solidFill>
                      <a:prstDash val="solid"/>
                      <a:round/>
                      <a:headEnd type="none" w="med" len="med"/>
                      <a:tailEnd type="none" w="med" len="med"/>
                    </a:lnT>
                    <a:lnB w="9525" cap="flat" cmpd="sng" algn="ctr">
                      <a:solidFill>
                        <a:srgbClr val="31363A"/>
                      </a:solidFill>
                      <a:prstDash val="solid"/>
                      <a:round/>
                      <a:headEnd type="none" w="med" len="med"/>
                      <a:tailEnd type="none" w="med" len="med"/>
                    </a:lnB>
                    <a:solidFill>
                      <a:srgbClr val="0A0B0C"/>
                    </a:solidFill>
                  </a:tcPr>
                </a:tc>
                <a:tc>
                  <a:txBody>
                    <a:bodyPr/>
                    <a:lstStyle/>
                    <a:p>
                      <a:pPr indent="0" marL="0">
                        <a:buNone/>
                      </a:pPr>
                      <a:r>
                        <a:rPr lang="en-US" sz="1200" dirty="0">
                          <a:solidFill>
                            <a:schemeClr val="bg1"/>
                          </a:solidFill>
                          <a:latin typeface="Arial" pitchFamily="34" charset="0"/>
                          <a:ea typeface="Arial" pitchFamily="34" charset="-122"/>
                          <a:cs typeface="Arial" pitchFamily="34" charset="-120"/>
                        </a:rPr>
                        <a:t>Per-shelf crops (by hand)</a:t>
                      </a:r>
                      <a:endParaRPr lang="en-US" sz="1200" dirty="0">
                        <a:latin typeface="Arial" charset="0"/>
                        <a:ea typeface="Arial" charset="0"/>
                        <a:cs typeface="Arial" charset="0"/>
                      </a:endParaRPr>
                    </a:p>
                  </a:txBody>
                  <a:tcPr marL="73152" marR="73152" marT="36576" marB="36576">
                    <a:lnL w="9525" cap="flat" cmpd="sng" algn="ctr">
                      <a:solidFill>
                        <a:srgbClr val="31363A"/>
                      </a:solidFill>
                      <a:prstDash val="solid"/>
                      <a:round/>
                      <a:headEnd type="none" w="med" len="med"/>
                      <a:tailEnd type="none" w="med" len="med"/>
                    </a:lnL>
                    <a:lnR w="9525" cap="flat" cmpd="sng" algn="ctr">
                      <a:solidFill>
                        <a:srgbClr val="31363A"/>
                      </a:solidFill>
                      <a:prstDash val="solid"/>
                      <a:round/>
                      <a:headEnd type="none" w="med" len="med"/>
                      <a:tailEnd type="none" w="med" len="med"/>
                    </a:lnR>
                    <a:lnT w="9525" cap="flat" cmpd="sng" algn="ctr">
                      <a:solidFill>
                        <a:srgbClr val="31363A"/>
                      </a:solidFill>
                      <a:prstDash val="solid"/>
                      <a:round/>
                      <a:headEnd type="none" w="med" len="med"/>
                      <a:tailEnd type="none" w="med" len="med"/>
                    </a:lnT>
                    <a:lnB w="9525" cap="flat" cmpd="sng" algn="ctr">
                      <a:solidFill>
                        <a:srgbClr val="31363A"/>
                      </a:solidFill>
                      <a:prstDash val="solid"/>
                      <a:round/>
                      <a:headEnd type="none" w="med" len="med"/>
                      <a:tailEnd type="none" w="med" len="med"/>
                    </a:lnB>
                    <a:solidFill>
                      <a:srgbClr val="0A0B0C"/>
                    </a:solidFill>
                  </a:tcPr>
                </a:tc>
                <a:tc>
                  <a:txBody>
                    <a:bodyPr/>
                    <a:lstStyle/>
                    <a:p>
                      <a:pPr indent="0" marL="0">
                        <a:buNone/>
                      </a:pPr>
                      <a:r>
                        <a:rPr lang="en-US" sz="1200" dirty="0">
                          <a:solidFill>
                            <a:schemeClr val="bg1"/>
                          </a:solidFill>
                          <a:latin typeface="Arial" pitchFamily="34" charset="0"/>
                          <a:ea typeface="Arial" pitchFamily="34" charset="-122"/>
                          <a:cs typeface="Arial" pitchFamily="34" charset="-120"/>
                        </a:rPr>
                        <a:t>2–3 / 4</a:t>
                      </a:r>
                      <a:endParaRPr lang="en-US" sz="1200" dirty="0">
                        <a:latin typeface="Arial" charset="0"/>
                        <a:ea typeface="Arial" charset="0"/>
                        <a:cs typeface="Arial" charset="0"/>
                      </a:endParaRPr>
                    </a:p>
                  </a:txBody>
                  <a:tcPr marL="73152" marR="73152" marT="36576" marB="36576">
                    <a:lnL w="9525" cap="flat" cmpd="sng" algn="ctr">
                      <a:solidFill>
                        <a:srgbClr val="31363A"/>
                      </a:solidFill>
                      <a:prstDash val="solid"/>
                      <a:round/>
                      <a:headEnd type="none" w="med" len="med"/>
                      <a:tailEnd type="none" w="med" len="med"/>
                    </a:lnL>
                    <a:lnR w="9525" cap="flat" cmpd="sng" algn="ctr">
                      <a:solidFill>
                        <a:srgbClr val="31363A"/>
                      </a:solidFill>
                      <a:prstDash val="solid"/>
                      <a:round/>
                      <a:headEnd type="none" w="med" len="med"/>
                      <a:tailEnd type="none" w="med" len="med"/>
                    </a:lnR>
                    <a:lnT w="9525" cap="flat" cmpd="sng" algn="ctr">
                      <a:solidFill>
                        <a:srgbClr val="31363A"/>
                      </a:solidFill>
                      <a:prstDash val="solid"/>
                      <a:round/>
                      <a:headEnd type="none" w="med" len="med"/>
                      <a:tailEnd type="none" w="med" len="med"/>
                    </a:lnT>
                    <a:lnB w="9525" cap="flat" cmpd="sng" algn="ctr">
                      <a:solidFill>
                        <a:srgbClr val="31363A"/>
                      </a:solidFill>
                      <a:prstDash val="solid"/>
                      <a:round/>
                      <a:headEnd type="none" w="med" len="med"/>
                      <a:tailEnd type="none" w="med" len="med"/>
                    </a:lnB>
                    <a:solidFill>
                      <a:srgbClr val="0A0B0C"/>
                    </a:solidFill>
                  </a:tcPr>
                </a:tc>
                <a:tc>
                  <a:txBody>
                    <a:bodyPr/>
                    <a:lstStyle/>
                    <a:p>
                      <a:pPr indent="0" marL="0">
                        <a:buNone/>
                      </a:pPr>
                      <a:r>
                        <a:rPr lang="en-US" sz="1200" dirty="0">
                          <a:solidFill>
                            <a:schemeClr val="bg1"/>
                          </a:solidFill>
                          <a:latin typeface="Arial" pitchFamily="34" charset="0"/>
                          <a:ea typeface="Arial" pitchFamily="34" charset="-122"/>
                          <a:cs typeface="Arial" pitchFamily="34" charset="-120"/>
                        </a:rPr>
                        <a:t>2–3</a:t>
                      </a:r>
                      <a:endParaRPr lang="en-US" sz="1200" dirty="0">
                        <a:latin typeface="Arial" charset="0"/>
                        <a:ea typeface="Arial" charset="0"/>
                        <a:cs typeface="Arial" charset="0"/>
                      </a:endParaRPr>
                    </a:p>
                  </a:txBody>
                  <a:tcPr marL="73152" marR="73152" marT="36576" marB="36576">
                    <a:lnL w="9525" cap="flat" cmpd="sng" algn="ctr">
                      <a:solidFill>
                        <a:srgbClr val="31363A"/>
                      </a:solidFill>
                      <a:prstDash val="solid"/>
                      <a:round/>
                      <a:headEnd type="none" w="med" len="med"/>
                      <a:tailEnd type="none" w="med" len="med"/>
                    </a:lnL>
                    <a:lnR w="9525" cap="flat" cmpd="sng" algn="ctr">
                      <a:solidFill>
                        <a:srgbClr val="31363A"/>
                      </a:solidFill>
                      <a:prstDash val="solid"/>
                      <a:round/>
                      <a:headEnd type="none" w="med" len="med"/>
                      <a:tailEnd type="none" w="med" len="med"/>
                    </a:lnR>
                    <a:lnT w="9525" cap="flat" cmpd="sng" algn="ctr">
                      <a:solidFill>
                        <a:srgbClr val="31363A"/>
                      </a:solidFill>
                      <a:prstDash val="solid"/>
                      <a:round/>
                      <a:headEnd type="none" w="med" len="med"/>
                      <a:tailEnd type="none" w="med" len="med"/>
                    </a:lnT>
                    <a:lnB w="9525" cap="flat" cmpd="sng" algn="ctr">
                      <a:solidFill>
                        <a:srgbClr val="31363A"/>
                      </a:solidFill>
                      <a:prstDash val="solid"/>
                      <a:round/>
                      <a:headEnd type="none" w="med" len="med"/>
                      <a:tailEnd type="none" w="med" len="med"/>
                    </a:lnB>
                    <a:solidFill>
                      <a:srgbClr val="0A0B0C"/>
                    </a:solidFill>
                  </a:tcPr>
                </a:tc>
                <a:tc>
                  <a:txBody>
                    <a:bodyPr/>
                    <a:lstStyle/>
                    <a:p>
                      <a:pPr indent="0" marL="0">
                        <a:buNone/>
                      </a:pPr>
                      <a:r>
                        <a:rPr lang="en-US" sz="1200" dirty="0">
                          <a:solidFill>
                            <a:schemeClr val="bg1"/>
                          </a:solidFill>
                          <a:latin typeface="Arial" pitchFamily="34" charset="0"/>
                          <a:ea typeface="Arial" pitchFamily="34" charset="-122"/>
                          <a:cs typeface="Arial" pitchFamily="34" charset="-120"/>
                        </a:rPr>
                        <a:t>3 of 3</a:t>
                      </a:r>
                      <a:endParaRPr lang="en-US" sz="1200" dirty="0">
                        <a:latin typeface="Arial" charset="0"/>
                        <a:ea typeface="Arial" charset="0"/>
                        <a:cs typeface="Arial" charset="0"/>
                      </a:endParaRPr>
                    </a:p>
                  </a:txBody>
                  <a:tcPr marL="73152" marR="73152" marT="36576" marB="36576">
                    <a:lnL w="9525" cap="flat" cmpd="sng" algn="ctr">
                      <a:solidFill>
                        <a:srgbClr val="31363A"/>
                      </a:solidFill>
                      <a:prstDash val="solid"/>
                      <a:round/>
                      <a:headEnd type="none" w="med" len="med"/>
                      <a:tailEnd type="none" w="med" len="med"/>
                    </a:lnL>
                    <a:lnR w="9525" cap="flat" cmpd="sng" algn="ctr">
                      <a:solidFill>
                        <a:srgbClr val="31363A"/>
                      </a:solidFill>
                      <a:prstDash val="solid"/>
                      <a:round/>
                      <a:headEnd type="none" w="med" len="med"/>
                      <a:tailEnd type="none" w="med" len="med"/>
                    </a:lnR>
                    <a:lnT w="9525" cap="flat" cmpd="sng" algn="ctr">
                      <a:solidFill>
                        <a:srgbClr val="31363A"/>
                      </a:solidFill>
                      <a:prstDash val="solid"/>
                      <a:round/>
                      <a:headEnd type="none" w="med" len="med"/>
                      <a:tailEnd type="none" w="med" len="med"/>
                    </a:lnT>
                    <a:lnB w="9525" cap="flat" cmpd="sng" algn="ctr">
                      <a:solidFill>
                        <a:srgbClr val="31363A"/>
                      </a:solidFill>
                      <a:prstDash val="solid"/>
                      <a:round/>
                      <a:headEnd type="none" w="med" len="med"/>
                      <a:tailEnd type="none" w="med" len="med"/>
                    </a:lnB>
                    <a:solidFill>
                      <a:srgbClr val="0A0B0C"/>
                    </a:solidFill>
                  </a:tcPr>
                </a:tc>
              </a:tr>
            </a:tbl>
          </a:graphicData>
        </a:graphic>
      </p:graphicFrame>
      <p:sp>
        <p:nvSpPr>
          <p:cNvPr id="5" name="shelf 2 with hidden box marked frame"/>
          <p:cNvSpPr/>
          <p:nvPr/>
        </p:nvSpPr>
        <p:spPr>
          <a:xfrm>
            <a:off x="7324344" y="1426464"/>
            <a:ext cx="4352544" cy="1907177"/>
          </a:xfrm>
          <a:prstGeom prst="rect">
            <a:avLst/>
          </a:prstGeom>
          <a:solidFill>
            <a:schemeClr val="tx2"/>
          </a:solidFill>
          <a:ln w="12700">
            <a:solidFill>
              <a:schemeClr val="accent5"/>
            </a:solidFill>
            <a:prstDash val="solid"/>
          </a:ln>
        </p:spPr>
      </p:sp>
      <p:pic>
        <p:nvPicPr>
          <p:cNvPr id="6" name="shelf 2 with hidden box marked" descr="/Users/bhavya_/Dev/amd/submission/presentation/img/shelf2_marked.png">    </p:cNvPr>
          <p:cNvPicPr>
            <a:picLocks noChangeAspect="1"/>
          </p:cNvPicPr>
          <p:nvPr/>
        </p:nvPicPr>
        <p:blipFill>
          <a:blip r:embed="rId1"/>
          <a:stretch>
            <a:fillRect/>
          </a:stretch>
        </p:blipFill>
        <p:spPr>
          <a:xfrm>
            <a:off x="7360920" y="1463040"/>
            <a:ext cx="4279392" cy="1834025"/>
          </a:xfrm>
          <a:prstGeom prst="rect">
            <a:avLst/>
          </a:prstGeom>
        </p:spPr>
      </p:pic>
      <p:sp>
        <p:nvSpPr>
          <p:cNvPr id="7" name="Text 3"/>
          <p:cNvSpPr txBox="1"/>
          <p:nvPr/>
        </p:nvSpPr>
        <p:spPr>
          <a:xfrm>
            <a:off x="7360920" y="3429000"/>
            <a:ext cx="4279392" cy="50292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Shelf 2 of the real photo. Hand count: 2 Koko Krunch. Model: 1, at 100% confidence. Box outlined by hand.</a:t>
            </a:r>
            <a:endParaRPr lang="en-US" sz="1000" dirty="0"/>
          </a:p>
        </p:txBody>
      </p:sp>
      <p:sp>
        <p:nvSpPr>
          <p:cNvPr id="8" name="MEASURED block"/>
          <p:cNvSpPr/>
          <p:nvPr/>
        </p:nvSpPr>
        <p:spPr>
          <a:xfrm>
            <a:off x="548640" y="4160520"/>
            <a:ext cx="2636444" cy="1874520"/>
          </a:xfrm>
          <a:prstGeom prst="rect">
            <a:avLst/>
          </a:prstGeom>
          <a:solidFill>
            <a:schemeClr val="tx2"/>
          </a:solidFill>
          <a:ln w="12700">
            <a:solidFill>
              <a:schemeClr val="accent5"/>
            </a:solidFill>
            <a:prstDash val="solid"/>
          </a:ln>
        </p:spPr>
      </p:sp>
      <p:sp>
        <p:nvSpPr>
          <p:cNvPr id="9" name="Text 5"/>
          <p:cNvSpPr txBox="1"/>
          <p:nvPr/>
        </p:nvSpPr>
        <p:spPr>
          <a:xfrm>
            <a:off x="731520" y="4343400"/>
            <a:ext cx="2270684" cy="27432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MEASURED</a:t>
            </a:r>
            <a:endParaRPr lang="en-US" sz="1100" dirty="0"/>
          </a:p>
        </p:txBody>
      </p:sp>
      <p:sp>
        <p:nvSpPr>
          <p:cNvPr id="10" name="Text 6"/>
          <p:cNvSpPr txBox="1"/>
          <p:nvPr/>
        </p:nvSpPr>
        <p:spPr>
          <a:xfrm>
            <a:off x="731520" y="4709160"/>
            <a:ext cx="2270684" cy="1234440"/>
          </a:xfrm>
          <a:prstGeom prst="rect">
            <a:avLst/>
          </a:prstGeom>
          <a:noFill/>
          <a:ln/>
        </p:spPr>
        <p:txBody>
          <a:bodyPr wrap="square" lIns="0" tIns="0" rIns="0" bIns="0" rtlCol="0" anchor="t"/>
          <a:lstStyle/>
          <a:p>
            <a:pPr indent="0" marL="0">
              <a:buNone/>
            </a:pPr>
            <a:r>
              <a:rPr lang="en-US" sz="1400" dirty="0">
                <a:solidFill>
                  <a:schemeClr val="bg1"/>
                </a:solidFill>
                <a:latin typeface="Arial" pitchFamily="34" charset="0"/>
                <a:ea typeface="Arial" pitchFamily="34" charset="-122"/>
                <a:cs typeface="Arial" pitchFamily="34" charset="-120"/>
              </a:rPr>
              <a:t>Production misses one half-hidden box in all 9 recorded runs, so the full shelf is reported short.</a:t>
            </a:r>
            <a:endParaRPr lang="en-US" sz="1400" dirty="0"/>
          </a:p>
        </p:txBody>
      </p:sp>
      <p:sp>
        <p:nvSpPr>
          <p:cNvPr id="11" name="EXPERIMENTAL block"/>
          <p:cNvSpPr/>
          <p:nvPr/>
        </p:nvSpPr>
        <p:spPr>
          <a:xfrm>
            <a:off x="3367964" y="4160520"/>
            <a:ext cx="2636444" cy="1874520"/>
          </a:xfrm>
          <a:prstGeom prst="rect">
            <a:avLst/>
          </a:prstGeom>
          <a:solidFill>
            <a:schemeClr val="tx2"/>
          </a:solidFill>
          <a:ln w="12700">
            <a:solidFill>
              <a:schemeClr val="accent5"/>
            </a:solidFill>
            <a:prstDash val="solid"/>
          </a:ln>
        </p:spPr>
      </p:sp>
      <p:sp>
        <p:nvSpPr>
          <p:cNvPr id="12" name="Text 8"/>
          <p:cNvSpPr txBox="1"/>
          <p:nvPr/>
        </p:nvSpPr>
        <p:spPr>
          <a:xfrm>
            <a:off x="3550844" y="4343400"/>
            <a:ext cx="2270684" cy="274320"/>
          </a:xfrm>
          <a:prstGeom prst="rect">
            <a:avLst/>
          </a:prstGeom>
          <a:noFill/>
          <a:ln/>
        </p:spPr>
        <p:txBody>
          <a:bodyPr wrap="square" lIns="0" tIns="0" rIns="0" bIns="0" rtlCol="0" anchor="t"/>
          <a:lstStyle/>
          <a:p>
            <a:pPr indent="0" marL="0">
              <a:buNone/>
            </a:pPr>
            <a:r>
              <a:rPr lang="en-US" sz="1100" dirty="0">
                <a:solidFill>
                  <a:schemeClr val="accent2"/>
                </a:solidFill>
                <a:latin typeface="Courier New" pitchFamily="34" charset="0"/>
                <a:ea typeface="Courier New" pitchFamily="34" charset="-122"/>
                <a:cs typeface="Courier New" pitchFamily="34" charset="-120"/>
              </a:rPr>
              <a:t>EXPERIMENTAL</a:t>
            </a:r>
            <a:endParaRPr lang="en-US" sz="1100" dirty="0"/>
          </a:p>
        </p:txBody>
      </p:sp>
      <p:sp>
        <p:nvSpPr>
          <p:cNvPr id="13" name="Text 9"/>
          <p:cNvSpPr txBox="1"/>
          <p:nvPr/>
        </p:nvSpPr>
        <p:spPr>
          <a:xfrm>
            <a:off x="3550844" y="4709160"/>
            <a:ext cx="2270684" cy="1234440"/>
          </a:xfrm>
          <a:prstGeom prst="rect">
            <a:avLst/>
          </a:prstGeom>
          <a:noFill/>
          <a:ln/>
        </p:spPr>
        <p:txBody>
          <a:bodyPr wrap="square" lIns="0" tIns="0" rIns="0" bIns="0" rtlCol="0" anchor="t"/>
          <a:lstStyle/>
          <a:p>
            <a:pPr indent="0" marL="0">
              <a:buNone/>
            </a:pPr>
            <a:r>
              <a:rPr lang="en-US" sz="1400" dirty="0">
                <a:solidFill>
                  <a:schemeClr val="bg1"/>
                </a:solidFill>
                <a:latin typeface="Arial" pitchFamily="34" charset="0"/>
                <a:ea typeface="Arial" pitchFamily="34" charset="-122"/>
                <a:cs typeface="Arial" pitchFamily="34" charset="-120"/>
              </a:rPr>
              <a:t>Per-shelf crops fixed the verdict (3 of 3) but overcounted neighbours. Not adopted.</a:t>
            </a:r>
            <a:endParaRPr lang="en-US" sz="1400" dirty="0"/>
          </a:p>
        </p:txBody>
      </p:sp>
      <p:sp>
        <p:nvSpPr>
          <p:cNvPr id="14" name="DEMO ASSUMPTIONS block"/>
          <p:cNvSpPr/>
          <p:nvPr/>
        </p:nvSpPr>
        <p:spPr>
          <a:xfrm>
            <a:off x="6187288" y="4160520"/>
            <a:ext cx="2636444" cy="1874520"/>
          </a:xfrm>
          <a:prstGeom prst="rect">
            <a:avLst/>
          </a:prstGeom>
          <a:solidFill>
            <a:schemeClr val="tx2"/>
          </a:solidFill>
          <a:ln w="12700">
            <a:solidFill>
              <a:schemeClr val="accent5"/>
            </a:solidFill>
            <a:prstDash val="solid"/>
          </a:ln>
        </p:spPr>
      </p:sp>
      <p:sp>
        <p:nvSpPr>
          <p:cNvPr id="15" name="Text 11"/>
          <p:cNvSpPr txBox="1"/>
          <p:nvPr/>
        </p:nvSpPr>
        <p:spPr>
          <a:xfrm>
            <a:off x="6370168" y="4343400"/>
            <a:ext cx="2270684" cy="274320"/>
          </a:xfrm>
          <a:prstGeom prst="rect">
            <a:avLst/>
          </a:prstGeom>
          <a:noFill/>
          <a:ln/>
        </p:spPr>
        <p:txBody>
          <a:bodyPr wrap="square" lIns="0" tIns="0" rIns="0" bIns="0" rtlCol="0" anchor="t"/>
          <a:lstStyle/>
          <a:p>
            <a:pPr indent="0" marL="0">
              <a:buNone/>
            </a:pPr>
            <a:r>
              <a:rPr lang="en-US" sz="1100" dirty="0">
                <a:solidFill>
                  <a:schemeClr val="accent2"/>
                </a:solidFill>
                <a:latin typeface="Courier New" pitchFamily="34" charset="0"/>
                <a:ea typeface="Courier New" pitchFamily="34" charset="-122"/>
                <a:cs typeface="Courier New" pitchFamily="34" charset="-120"/>
              </a:rPr>
              <a:t>DEMO ASSUMPTIONS</a:t>
            </a:r>
            <a:endParaRPr lang="en-US" sz="1100" dirty="0"/>
          </a:p>
        </p:txBody>
      </p:sp>
      <p:sp>
        <p:nvSpPr>
          <p:cNvPr id="16" name="Text 12"/>
          <p:cNvSpPr txBox="1"/>
          <p:nvPr/>
        </p:nvSpPr>
        <p:spPr>
          <a:xfrm>
            <a:off x="6370168" y="4709160"/>
            <a:ext cx="2270684" cy="1234440"/>
          </a:xfrm>
          <a:prstGeom prst="rect">
            <a:avLst/>
          </a:prstGeom>
          <a:noFill/>
          <a:ln/>
        </p:spPr>
        <p:txBody>
          <a:bodyPr wrap="square" lIns="0" tIns="0" rIns="0" bIns="0" rtlCol="0" anchor="t"/>
          <a:lstStyle/>
          <a:p>
            <a:pPr indent="0" marL="0">
              <a:buNone/>
            </a:pPr>
            <a:r>
              <a:rPr lang="en-US" sz="1400" dirty="0">
                <a:solidFill>
                  <a:schemeClr val="bg1"/>
                </a:solidFill>
                <a:latin typeface="Arial" pitchFamily="34" charset="0"/>
                <a:ea typeface="Arial" pitchFamily="34" charset="-122"/>
                <a:cs typeface="Arial" pitchFamily="34" charset="-120"/>
              </a:rPr>
              <a:t>$1.00 per-unit margins. One self-taken photo: a case study, not a benchmark.</a:t>
            </a:r>
            <a:endParaRPr lang="en-US" sz="1400" dirty="0"/>
          </a:p>
        </p:txBody>
      </p:sp>
      <p:sp>
        <p:nvSpPr>
          <p:cNvPr id="17" name="FUTURE block"/>
          <p:cNvSpPr/>
          <p:nvPr/>
        </p:nvSpPr>
        <p:spPr>
          <a:xfrm>
            <a:off x="9006611" y="4160520"/>
            <a:ext cx="2636444" cy="1874520"/>
          </a:xfrm>
          <a:prstGeom prst="rect">
            <a:avLst/>
          </a:prstGeom>
          <a:solidFill>
            <a:schemeClr val="tx2"/>
          </a:solidFill>
          <a:ln w="12700">
            <a:solidFill>
              <a:schemeClr val="accent5"/>
            </a:solidFill>
            <a:prstDash val="solid"/>
          </a:ln>
        </p:spPr>
      </p:sp>
      <p:sp>
        <p:nvSpPr>
          <p:cNvPr id="18" name="Text 14"/>
          <p:cNvSpPr txBox="1"/>
          <p:nvPr/>
        </p:nvSpPr>
        <p:spPr>
          <a:xfrm>
            <a:off x="9189491" y="4343400"/>
            <a:ext cx="2270684" cy="274320"/>
          </a:xfrm>
          <a:prstGeom prst="rect">
            <a:avLst/>
          </a:prstGeom>
          <a:noFill/>
          <a:ln/>
        </p:spPr>
        <p:txBody>
          <a:bodyPr wrap="square" lIns="0" tIns="0" rIns="0" bIns="0" rtlCol="0" anchor="t"/>
          <a:lstStyle/>
          <a:p>
            <a:pPr indent="0" marL="0">
              <a:buNone/>
            </a:pPr>
            <a:r>
              <a:rPr lang="en-US" sz="1100" dirty="0">
                <a:solidFill>
                  <a:schemeClr val="accent6"/>
                </a:solidFill>
                <a:latin typeface="Courier New" pitchFamily="34" charset="0"/>
                <a:ea typeface="Courier New" pitchFamily="34" charset="-122"/>
                <a:cs typeface="Courier New" pitchFamily="34" charset="-120"/>
              </a:rPr>
              <a:t>FUTURE</a:t>
            </a:r>
            <a:endParaRPr lang="en-US" sz="1100" dirty="0"/>
          </a:p>
        </p:txBody>
      </p:sp>
      <p:sp>
        <p:nvSpPr>
          <p:cNvPr id="19" name="Text 15"/>
          <p:cNvSpPr txBox="1"/>
          <p:nvPr/>
        </p:nvSpPr>
        <p:spPr>
          <a:xfrm>
            <a:off x="9189491" y="4709160"/>
            <a:ext cx="2270684" cy="1234440"/>
          </a:xfrm>
          <a:prstGeom prst="rect">
            <a:avLst/>
          </a:prstGeom>
          <a:noFill/>
          <a:ln/>
        </p:spPr>
        <p:txBody>
          <a:bodyPr wrap="square" lIns="0" tIns="0" rIns="0" bIns="0" rtlCol="0" anchor="t"/>
          <a:lstStyle/>
          <a:p>
            <a:pPr indent="0" marL="0">
              <a:buNone/>
            </a:pPr>
            <a:r>
              <a:rPr lang="en-US" sz="1400" dirty="0">
                <a:solidFill>
                  <a:schemeClr val="bg1"/>
                </a:solidFill>
                <a:latin typeface="Arial" pitchFamily="34" charset="0"/>
                <a:ea typeface="Arial" pitchFamily="34" charset="-122"/>
                <a:cs typeface="Arial" pitchFamily="34" charset="-120"/>
              </a:rPr>
              <a:t>Occlusion-aware counting, human verification, many more shelves.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t"/>
          <a:lstStyle/>
          <a:p>
            <a:pPr indent="0" marL="0">
              <a:buNone/>
            </a:pPr>
            <a:r>
              <a:rPr lang="en-US" sz="1200" spc="200" kern="0" dirty="0">
                <a:solidFill>
                  <a:schemeClr val="accent1"/>
                </a:solidFill>
                <a:latin typeface="Courier New" pitchFamily="34" charset="0"/>
                <a:ea typeface="Courier New" pitchFamily="34" charset="-122"/>
                <a:cs typeface="Courier New" pitchFamily="34" charset="-120"/>
              </a:rPr>
              <a:t>[06] AMD INTEGRATION AND VALUE</a:t>
            </a:r>
            <a:endParaRPr lang="en-US" sz="12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t"/>
          <a:lstStyle/>
          <a:p>
            <a:pPr algn="l" indent="0" marL="0">
              <a:buNone/>
            </a:pPr>
            <a:r>
              <a:rPr lang="en-US" sz="3200" b="1" dirty="0">
                <a:solidFill>
                  <a:schemeClr val="bg1"/>
                </a:solidFill>
              </a:rPr>
              <a:t>Every inspection runs on AMD</a:t>
            </a:r>
            <a:endParaRPr lang="en-US" sz="3200" dirty="0"/>
          </a:p>
        </p:txBody>
      </p:sp>
      <p:sp>
        <p:nvSpPr>
          <p:cNvPr id="4" name="Text 2"/>
          <p:cNvSpPr txBox="1"/>
          <p:nvPr/>
        </p:nvSpPr>
        <p:spPr>
          <a:xfrm>
            <a:off x="548640" y="1600200"/>
            <a:ext cx="2743200" cy="914400"/>
          </a:xfrm>
          <a:prstGeom prst="rect">
            <a:avLst/>
          </a:prstGeom>
          <a:noFill/>
          <a:ln/>
        </p:spPr>
        <p:txBody>
          <a:bodyPr wrap="square" lIns="0" tIns="0" rIns="0" bIns="0" rtlCol="0" anchor="t"/>
          <a:lstStyle/>
          <a:p>
            <a:pPr indent="0" marL="0">
              <a:buNone/>
            </a:pPr>
            <a:r>
              <a:rPr lang="en-US" sz="5400" b="1" dirty="0">
                <a:solidFill>
                  <a:schemeClr val="accent1"/>
                </a:solidFill>
                <a:latin typeface="Arial" pitchFamily="34" charset="0"/>
                <a:ea typeface="Arial" pitchFamily="34" charset="-122"/>
                <a:cs typeface="Arial" pitchFamily="34" charset="-120"/>
              </a:rPr>
              <a:t>18.2 s</a:t>
            </a:r>
            <a:endParaRPr lang="en-US" sz="5400" dirty="0"/>
          </a:p>
        </p:txBody>
      </p:sp>
      <p:sp>
        <p:nvSpPr>
          <p:cNvPr id="5" name="Text 3"/>
          <p:cNvSpPr txBox="1"/>
          <p:nvPr/>
        </p:nvSpPr>
        <p:spPr>
          <a:xfrm>
            <a:off x="3383280" y="1783080"/>
            <a:ext cx="2743200" cy="82296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median inspection on the shared endpoint (9 recorded runs, 11.7–45.8 s)</a:t>
            </a:r>
            <a:endParaRPr lang="en-US" sz="1400" dirty="0"/>
          </a:p>
        </p:txBody>
      </p:sp>
      <p:sp>
        <p:nvSpPr>
          <p:cNvPr id="6" name="Text 4"/>
          <p:cNvSpPr txBox="1"/>
          <p:nvPr/>
        </p:nvSpPr>
        <p:spPr>
          <a:xfrm>
            <a:off x="548640" y="2971800"/>
            <a:ext cx="2743200" cy="914400"/>
          </a:xfrm>
          <a:prstGeom prst="rect">
            <a:avLst/>
          </a:prstGeom>
          <a:noFill/>
          <a:ln/>
        </p:spPr>
        <p:txBody>
          <a:bodyPr wrap="square" lIns="0" tIns="0" rIns="0" bIns="0" rtlCol="0" anchor="t"/>
          <a:lstStyle/>
          <a:p>
            <a:pPr indent="0" marL="0">
              <a:buNone/>
            </a:pPr>
            <a:r>
              <a:rPr lang="en-US" sz="5400" b="1" dirty="0">
                <a:solidFill>
                  <a:schemeClr val="bg1"/>
                </a:solidFill>
                <a:latin typeface="Arial" pitchFamily="34" charset="0"/>
                <a:ea typeface="Arial" pitchFamily="34" charset="-122"/>
                <a:cs typeface="Arial" pitchFamily="34" charset="-120"/>
              </a:rPr>
              <a:t>1</a:t>
            </a:r>
            <a:endParaRPr lang="en-US" sz="5400" dirty="0"/>
          </a:p>
        </p:txBody>
      </p:sp>
      <p:sp>
        <p:nvSpPr>
          <p:cNvPr id="7" name="Text 5"/>
          <p:cNvSpPr txBox="1"/>
          <p:nvPr/>
        </p:nvSpPr>
        <p:spPr>
          <a:xfrm>
            <a:off x="3383280" y="3154680"/>
            <a:ext cx="2743200" cy="82296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vision call per inspection, plus 1 text call to word the actions</a:t>
            </a:r>
            <a:endParaRPr lang="en-US" sz="1400" dirty="0"/>
          </a:p>
        </p:txBody>
      </p:sp>
      <p:sp>
        <p:nvSpPr>
          <p:cNvPr id="8" name="Text 6"/>
          <p:cNvSpPr txBox="1"/>
          <p:nvPr/>
        </p:nvSpPr>
        <p:spPr>
          <a:xfrm>
            <a:off x="548640" y="4343400"/>
            <a:ext cx="2743200" cy="914400"/>
          </a:xfrm>
          <a:prstGeom prst="rect">
            <a:avLst/>
          </a:prstGeom>
          <a:noFill/>
          <a:ln/>
        </p:spPr>
        <p:txBody>
          <a:bodyPr wrap="square" lIns="0" tIns="0" rIns="0" bIns="0" rtlCol="0" anchor="t"/>
          <a:lstStyle/>
          <a:p>
            <a:pPr indent="0" marL="0">
              <a:buNone/>
            </a:pPr>
            <a:r>
              <a:rPr lang="en-US" sz="5400" b="1" dirty="0">
                <a:solidFill>
                  <a:schemeClr val="bg1"/>
                </a:solidFill>
                <a:latin typeface="Arial" pitchFamily="34" charset="0"/>
                <a:ea typeface="Arial" pitchFamily="34" charset="-122"/>
                <a:cs typeface="Arial" pitchFamily="34" charset="-120"/>
              </a:rPr>
              <a:t>24</a:t>
            </a:r>
            <a:endParaRPr lang="en-US" sz="5400" dirty="0"/>
          </a:p>
        </p:txBody>
      </p:sp>
      <p:sp>
        <p:nvSpPr>
          <p:cNvPr id="9" name="Text 7"/>
          <p:cNvSpPr txBox="1"/>
          <p:nvPr/>
        </p:nvSpPr>
        <p:spPr>
          <a:xfrm>
            <a:off x="3383280" y="4526280"/>
            <a:ext cx="2743200" cy="82296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experiment records kept with the model’s raw replies</a:t>
            </a:r>
            <a:endParaRPr lang="en-US" sz="1400" dirty="0"/>
          </a:p>
        </p:txBody>
      </p:sp>
      <p:sp>
        <p:nvSpPr>
          <p:cNvPr id="10" name="Shape 8"/>
          <p:cNvSpPr/>
          <p:nvPr/>
        </p:nvSpPr>
        <p:spPr>
          <a:xfrm>
            <a:off x="6492240" y="1600200"/>
            <a:ext cx="5148072" cy="0"/>
          </a:xfrm>
          <a:prstGeom prst="line">
            <a:avLst/>
          </a:prstGeom>
          <a:noFill/>
          <a:ln w="12700">
            <a:solidFill>
              <a:schemeClr val="accent5"/>
            </a:solidFill>
            <a:prstDash val="solid"/>
          </a:ln>
        </p:spPr>
      </p:sp>
      <p:sp>
        <p:nvSpPr>
          <p:cNvPr id="11" name="Text 9"/>
          <p:cNvSpPr txBox="1"/>
          <p:nvPr/>
        </p:nvSpPr>
        <p:spPr>
          <a:xfrm>
            <a:off x="6492240" y="1764792"/>
            <a:ext cx="1463040" cy="27432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MODEL</a:t>
            </a:r>
            <a:endParaRPr lang="en-US" sz="1000" dirty="0"/>
          </a:p>
        </p:txBody>
      </p:sp>
      <p:sp>
        <p:nvSpPr>
          <p:cNvPr id="12" name="Text 10"/>
          <p:cNvSpPr txBox="1"/>
          <p:nvPr/>
        </p:nvSpPr>
        <p:spPr>
          <a:xfrm>
            <a:off x="8001000" y="1728216"/>
            <a:ext cx="3639312" cy="548640"/>
          </a:xfrm>
          <a:prstGeom prst="rect">
            <a:avLst/>
          </a:prstGeom>
          <a:noFill/>
          <a:ln/>
        </p:spPr>
        <p:txBody>
          <a:bodyPr wrap="square" lIns="0" tIns="0" rIns="0" bIns="0" rtlCol="0" anchor="t"/>
          <a:lstStyle/>
          <a:p>
            <a:pPr indent="0" marL="0">
              <a:buNone/>
            </a:pPr>
            <a:r>
              <a:rPr lang="en-US" sz="1400" dirty="0">
                <a:solidFill>
                  <a:schemeClr val="bg1"/>
                </a:solidFill>
                <a:latin typeface="Arial" pitchFamily="34" charset="0"/>
                <a:ea typeface="Arial" pitchFamily="34" charset="-122"/>
                <a:cs typeface="Arial" pitchFamily="34" charset="-120"/>
              </a:rPr>
              <a:t>Gemma-4-31B-IT, vision input</a:t>
            </a:r>
            <a:endParaRPr lang="en-US" sz="1400" dirty="0"/>
          </a:p>
        </p:txBody>
      </p:sp>
      <p:sp>
        <p:nvSpPr>
          <p:cNvPr id="13" name="Shape 11"/>
          <p:cNvSpPr/>
          <p:nvPr/>
        </p:nvSpPr>
        <p:spPr>
          <a:xfrm>
            <a:off x="6492240" y="2313432"/>
            <a:ext cx="5148072" cy="0"/>
          </a:xfrm>
          <a:prstGeom prst="line">
            <a:avLst/>
          </a:prstGeom>
          <a:noFill/>
          <a:ln w="12700">
            <a:solidFill>
              <a:schemeClr val="accent5"/>
            </a:solidFill>
            <a:prstDash val="solid"/>
          </a:ln>
        </p:spPr>
      </p:sp>
      <p:sp>
        <p:nvSpPr>
          <p:cNvPr id="14" name="Text 12"/>
          <p:cNvSpPr txBox="1"/>
          <p:nvPr/>
        </p:nvSpPr>
        <p:spPr>
          <a:xfrm>
            <a:off x="6492240" y="2478024"/>
            <a:ext cx="1463040" cy="27432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ENDPOINT</a:t>
            </a:r>
            <a:endParaRPr lang="en-US" sz="1000" dirty="0"/>
          </a:p>
        </p:txBody>
      </p:sp>
      <p:sp>
        <p:nvSpPr>
          <p:cNvPr id="15" name="Text 13"/>
          <p:cNvSpPr txBox="1"/>
          <p:nvPr/>
        </p:nvSpPr>
        <p:spPr>
          <a:xfrm>
            <a:off x="8001000" y="2441448"/>
            <a:ext cx="3639312" cy="548640"/>
          </a:xfrm>
          <a:prstGeom prst="rect">
            <a:avLst/>
          </a:prstGeom>
          <a:noFill/>
          <a:ln/>
        </p:spPr>
        <p:txBody>
          <a:bodyPr wrap="square" lIns="0" tIns="0" rIns="0" bIns="0" rtlCol="0" anchor="t"/>
          <a:lstStyle/>
          <a:p>
            <a:pPr indent="0" marL="0">
              <a:buNone/>
            </a:pPr>
            <a:r>
              <a:rPr lang="en-US" sz="1400" dirty="0">
                <a:solidFill>
                  <a:schemeClr val="bg1"/>
                </a:solidFill>
                <a:latin typeface="Arial" pitchFamily="34" charset="0"/>
                <a:ea typeface="Arial" pitchFamily="34" charset="-122"/>
                <a:cs typeface="Arial" pitchFamily="34" charset="-120"/>
              </a:rPr>
              <a:t>AMD Developer Cloud Token Factory, OpenAI-compatible chat completions</a:t>
            </a:r>
            <a:endParaRPr lang="en-US" sz="1400" dirty="0"/>
          </a:p>
        </p:txBody>
      </p:sp>
      <p:sp>
        <p:nvSpPr>
          <p:cNvPr id="16" name="Shape 14"/>
          <p:cNvSpPr/>
          <p:nvPr/>
        </p:nvSpPr>
        <p:spPr>
          <a:xfrm>
            <a:off x="6492240" y="3026664"/>
            <a:ext cx="5148072" cy="0"/>
          </a:xfrm>
          <a:prstGeom prst="line">
            <a:avLst/>
          </a:prstGeom>
          <a:noFill/>
          <a:ln w="12700">
            <a:solidFill>
              <a:schemeClr val="accent5"/>
            </a:solidFill>
            <a:prstDash val="solid"/>
          </a:ln>
        </p:spPr>
      </p:sp>
      <p:sp>
        <p:nvSpPr>
          <p:cNvPr id="17" name="Text 15"/>
          <p:cNvSpPr txBox="1"/>
          <p:nvPr/>
        </p:nvSpPr>
        <p:spPr>
          <a:xfrm>
            <a:off x="6492240" y="3191256"/>
            <a:ext cx="1463040" cy="27432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EVIDENCE</a:t>
            </a:r>
            <a:endParaRPr lang="en-US" sz="1000" dirty="0"/>
          </a:p>
        </p:txBody>
      </p:sp>
      <p:sp>
        <p:nvSpPr>
          <p:cNvPr id="18" name="Text 16"/>
          <p:cNvSpPr txBox="1"/>
          <p:nvPr/>
        </p:nvSpPr>
        <p:spPr>
          <a:xfrm>
            <a:off x="8001000" y="3154680"/>
            <a:ext cx="3639312" cy="548640"/>
          </a:xfrm>
          <a:prstGeom prst="rect">
            <a:avLst/>
          </a:prstGeom>
          <a:noFill/>
          <a:ln/>
        </p:spPr>
        <p:txBody>
          <a:bodyPr wrap="square" lIns="0" tIns="0" rIns="0" bIns="0" rtlCol="0" anchor="t"/>
          <a:lstStyle/>
          <a:p>
            <a:pPr indent="0" marL="0">
              <a:buNone/>
            </a:pPr>
            <a:r>
              <a:rPr lang="en-US" sz="1400" dirty="0">
                <a:solidFill>
                  <a:schemeClr val="bg1"/>
                </a:solidFill>
                <a:latin typeface="Arial" pitchFamily="34" charset="0"/>
                <a:ea typeface="Arial" pitchFamily="34" charset="-122"/>
                <a:cs typeface="Arial" pitchFamily="34" charset="-120"/>
              </a:rPr>
              <a:t>First raw HTTP 200 and every experiment reply kept in the repository</a:t>
            </a:r>
            <a:endParaRPr lang="en-US" sz="1400" dirty="0"/>
          </a:p>
        </p:txBody>
      </p:sp>
      <p:sp>
        <p:nvSpPr>
          <p:cNvPr id="19" name="Shape 17"/>
          <p:cNvSpPr/>
          <p:nvPr/>
        </p:nvSpPr>
        <p:spPr>
          <a:xfrm>
            <a:off x="6492240" y="3739896"/>
            <a:ext cx="5148072" cy="0"/>
          </a:xfrm>
          <a:prstGeom prst="line">
            <a:avLst/>
          </a:prstGeom>
          <a:noFill/>
          <a:ln w="12700">
            <a:solidFill>
              <a:schemeClr val="accent5"/>
            </a:solidFill>
            <a:prstDash val="solid"/>
          </a:ln>
        </p:spPr>
      </p:sp>
      <p:sp>
        <p:nvSpPr>
          <p:cNvPr id="20" name="Text 18"/>
          <p:cNvSpPr txBox="1"/>
          <p:nvPr/>
        </p:nvSpPr>
        <p:spPr>
          <a:xfrm>
            <a:off x="6492240" y="3904488"/>
            <a:ext cx="1463040" cy="27432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NOT CLAIMED</a:t>
            </a:r>
            <a:endParaRPr lang="en-US" sz="1000" dirty="0"/>
          </a:p>
        </p:txBody>
      </p:sp>
      <p:sp>
        <p:nvSpPr>
          <p:cNvPr id="21" name="Text 19"/>
          <p:cNvSpPr txBox="1"/>
          <p:nvPr/>
        </p:nvSpPr>
        <p:spPr>
          <a:xfrm>
            <a:off x="8001000" y="3867912"/>
            <a:ext cx="3639312" cy="54864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We call a hosted service: no GPU, vLLM or ROCm claims</a:t>
            </a:r>
            <a:endParaRPr lang="en-US" sz="1400" dirty="0"/>
          </a:p>
        </p:txBody>
      </p:sp>
      <p:sp>
        <p:nvSpPr>
          <p:cNvPr id="22" name="value statement"/>
          <p:cNvSpPr/>
          <p:nvPr/>
        </p:nvSpPr>
        <p:spPr>
          <a:xfrm>
            <a:off x="6492240" y="4709160"/>
            <a:ext cx="5148072" cy="1325880"/>
          </a:xfrm>
          <a:prstGeom prst="rect">
            <a:avLst/>
          </a:prstGeom>
          <a:solidFill>
            <a:schemeClr val="accent1"/>
          </a:solidFill>
          <a:ln w="12700">
            <a:solidFill>
              <a:schemeClr val="accent1"/>
            </a:solidFill>
            <a:prstDash val="solid"/>
          </a:ln>
        </p:spPr>
      </p:sp>
      <p:sp>
        <p:nvSpPr>
          <p:cNvPr id="23" name="Text 21"/>
          <p:cNvSpPr txBox="1"/>
          <p:nvPr/>
        </p:nvSpPr>
        <p:spPr>
          <a:xfrm>
            <a:off x="6720840" y="4864608"/>
            <a:ext cx="4709160" cy="105156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Intended value: a fast, photo-based second opinion for store staff on where to look and roughly what is at stake, without shelf-scanning hardware.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t"/>
          <a:lstStyle/>
          <a:p>
            <a:pPr indent="0" marL="0">
              <a:buNone/>
            </a:pPr>
            <a:r>
              <a:rPr lang="en-US" sz="1200" spc="200" kern="0" dirty="0">
                <a:solidFill>
                  <a:schemeClr val="accent1"/>
                </a:solidFill>
                <a:latin typeface="Courier New" pitchFamily="34" charset="0"/>
                <a:ea typeface="Courier New" pitchFamily="34" charset="-122"/>
                <a:cs typeface="Courier New" pitchFamily="34" charset="-120"/>
              </a:rPr>
              <a:t>[07] ROADMAP · PLANNED, NOT BUILT</a:t>
            </a:r>
            <a:endParaRPr lang="en-US" sz="12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t"/>
          <a:lstStyle/>
          <a:p>
            <a:pPr algn="l" indent="0" marL="0">
              <a:buNone/>
            </a:pPr>
            <a:r>
              <a:rPr lang="en-US" sz="3200" b="1" dirty="0">
                <a:solidFill>
                  <a:schemeClr val="bg1"/>
                </a:solidFill>
              </a:rPr>
              <a:t>What comes next</a:t>
            </a:r>
            <a:endParaRPr lang="en-US" sz="3200" dirty="0"/>
          </a:p>
        </p:txBody>
      </p:sp>
      <p:sp>
        <p:nvSpPr>
          <p:cNvPr id="4" name="Shape 2"/>
          <p:cNvSpPr/>
          <p:nvPr/>
        </p:nvSpPr>
        <p:spPr>
          <a:xfrm>
            <a:off x="548640" y="1645920"/>
            <a:ext cx="5669280" cy="0"/>
          </a:xfrm>
          <a:prstGeom prst="line">
            <a:avLst/>
          </a:prstGeom>
          <a:noFill/>
          <a:ln w="12700">
            <a:solidFill>
              <a:schemeClr val="accent5"/>
            </a:solidFill>
            <a:prstDash val="solid"/>
          </a:ln>
        </p:spPr>
      </p:sp>
      <p:sp>
        <p:nvSpPr>
          <p:cNvPr id="5" name="Text 3"/>
          <p:cNvSpPr txBox="1"/>
          <p:nvPr/>
        </p:nvSpPr>
        <p:spPr>
          <a:xfrm>
            <a:off x="548640" y="1865376"/>
            <a:ext cx="640080" cy="32004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[01]</a:t>
            </a:r>
            <a:endParaRPr lang="en-US" sz="1300" dirty="0"/>
          </a:p>
        </p:txBody>
      </p:sp>
      <p:sp>
        <p:nvSpPr>
          <p:cNvPr id="6" name="Text 4"/>
          <p:cNvSpPr txBox="1"/>
          <p:nvPr/>
        </p:nvSpPr>
        <p:spPr>
          <a:xfrm>
            <a:off x="1234440" y="1810512"/>
            <a:ext cx="4937760" cy="411480"/>
          </a:xfrm>
          <a:prstGeom prst="rect">
            <a:avLst/>
          </a:prstGeom>
          <a:noFill/>
          <a:ln/>
        </p:spPr>
        <p:txBody>
          <a:bodyPr wrap="square" lIns="0" tIns="0" rIns="0" bIns="0" rtlCol="0" anchor="t"/>
          <a:lstStyle/>
          <a:p>
            <a:pPr indent="0" marL="0">
              <a:buNone/>
            </a:pPr>
            <a:r>
              <a:rPr lang="en-US" sz="1900" b="1" dirty="0">
                <a:solidFill>
                  <a:schemeClr val="bg1"/>
                </a:solidFill>
                <a:latin typeface="Arial" pitchFamily="34" charset="0"/>
                <a:ea typeface="Arial" pitchFamily="34" charset="-122"/>
                <a:cs typeface="Arial" pitchFamily="34" charset="-120"/>
              </a:rPr>
              <a:t>Better product counting under occlusion</a:t>
            </a:r>
            <a:endParaRPr lang="en-US" sz="1900" dirty="0"/>
          </a:p>
        </p:txBody>
      </p:sp>
      <p:sp>
        <p:nvSpPr>
          <p:cNvPr id="7" name="Shape 5"/>
          <p:cNvSpPr/>
          <p:nvPr/>
        </p:nvSpPr>
        <p:spPr>
          <a:xfrm>
            <a:off x="548640" y="2377440"/>
            <a:ext cx="5669280" cy="0"/>
          </a:xfrm>
          <a:prstGeom prst="line">
            <a:avLst/>
          </a:prstGeom>
          <a:noFill/>
          <a:ln w="12700">
            <a:solidFill>
              <a:schemeClr val="accent5"/>
            </a:solidFill>
            <a:prstDash val="solid"/>
          </a:ln>
        </p:spPr>
      </p:sp>
      <p:sp>
        <p:nvSpPr>
          <p:cNvPr id="8" name="Text 6"/>
          <p:cNvSpPr txBox="1"/>
          <p:nvPr/>
        </p:nvSpPr>
        <p:spPr>
          <a:xfrm>
            <a:off x="548640" y="2596896"/>
            <a:ext cx="640080" cy="32004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[02]</a:t>
            </a:r>
            <a:endParaRPr lang="en-US" sz="1300" dirty="0"/>
          </a:p>
        </p:txBody>
      </p:sp>
      <p:sp>
        <p:nvSpPr>
          <p:cNvPr id="9" name="Text 7"/>
          <p:cNvSpPr txBox="1"/>
          <p:nvPr/>
        </p:nvSpPr>
        <p:spPr>
          <a:xfrm>
            <a:off x="1234440" y="2542032"/>
            <a:ext cx="4937760" cy="411480"/>
          </a:xfrm>
          <a:prstGeom prst="rect">
            <a:avLst/>
          </a:prstGeom>
          <a:noFill/>
          <a:ln/>
        </p:spPr>
        <p:txBody>
          <a:bodyPr wrap="square" lIns="0" tIns="0" rIns="0" bIns="0" rtlCol="0" anchor="t"/>
          <a:lstStyle/>
          <a:p>
            <a:pPr indent="0" marL="0">
              <a:buNone/>
            </a:pPr>
            <a:r>
              <a:rPr lang="en-US" sz="1900" b="1" dirty="0">
                <a:solidFill>
                  <a:schemeClr val="bg1"/>
                </a:solidFill>
                <a:latin typeface="Arial" pitchFamily="34" charset="0"/>
                <a:ea typeface="Arial" pitchFamily="34" charset="-122"/>
                <a:cs typeface="Arial" pitchFamily="34" charset="-120"/>
              </a:rPr>
              <a:t>Human verification of uncertain findings</a:t>
            </a:r>
            <a:endParaRPr lang="en-US" sz="1900" dirty="0"/>
          </a:p>
        </p:txBody>
      </p:sp>
      <p:sp>
        <p:nvSpPr>
          <p:cNvPr id="10" name="Shape 8"/>
          <p:cNvSpPr/>
          <p:nvPr/>
        </p:nvSpPr>
        <p:spPr>
          <a:xfrm>
            <a:off x="548640" y="3108960"/>
            <a:ext cx="5669280" cy="0"/>
          </a:xfrm>
          <a:prstGeom prst="line">
            <a:avLst/>
          </a:prstGeom>
          <a:noFill/>
          <a:ln w="12700">
            <a:solidFill>
              <a:schemeClr val="accent5"/>
            </a:solidFill>
            <a:prstDash val="solid"/>
          </a:ln>
        </p:spPr>
      </p:sp>
      <p:sp>
        <p:nvSpPr>
          <p:cNvPr id="11" name="Text 9"/>
          <p:cNvSpPr txBox="1"/>
          <p:nvPr/>
        </p:nvSpPr>
        <p:spPr>
          <a:xfrm>
            <a:off x="548640" y="3328416"/>
            <a:ext cx="640080" cy="32004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[03]</a:t>
            </a:r>
            <a:endParaRPr lang="en-US" sz="1300" dirty="0"/>
          </a:p>
        </p:txBody>
      </p:sp>
      <p:sp>
        <p:nvSpPr>
          <p:cNvPr id="12" name="Text 10"/>
          <p:cNvSpPr txBox="1"/>
          <p:nvPr/>
        </p:nvSpPr>
        <p:spPr>
          <a:xfrm>
            <a:off x="1234440" y="3273552"/>
            <a:ext cx="4937760" cy="411480"/>
          </a:xfrm>
          <a:prstGeom prst="rect">
            <a:avLst/>
          </a:prstGeom>
          <a:noFill/>
          <a:ln/>
        </p:spPr>
        <p:txBody>
          <a:bodyPr wrap="square" lIns="0" tIns="0" rIns="0" bIns="0" rtlCol="0" anchor="t"/>
          <a:lstStyle/>
          <a:p>
            <a:pPr indent="0" marL="0">
              <a:buNone/>
            </a:pPr>
            <a:r>
              <a:rPr lang="en-US" sz="1900" b="1" dirty="0">
                <a:solidFill>
                  <a:schemeClr val="bg1"/>
                </a:solidFill>
                <a:latin typeface="Arial" pitchFamily="34" charset="0"/>
                <a:ea typeface="Arial" pitchFamily="34" charset="-122"/>
                <a:cs typeface="Arial" pitchFamily="34" charset="-120"/>
              </a:rPr>
              <a:t>Evaluation on diverse shelf images</a:t>
            </a:r>
            <a:endParaRPr lang="en-US" sz="1900" dirty="0"/>
          </a:p>
        </p:txBody>
      </p:sp>
      <p:sp>
        <p:nvSpPr>
          <p:cNvPr id="13" name="Shape 11"/>
          <p:cNvSpPr/>
          <p:nvPr/>
        </p:nvSpPr>
        <p:spPr>
          <a:xfrm>
            <a:off x="548640" y="3840480"/>
            <a:ext cx="5669280" cy="0"/>
          </a:xfrm>
          <a:prstGeom prst="line">
            <a:avLst/>
          </a:prstGeom>
          <a:noFill/>
          <a:ln w="12700">
            <a:solidFill>
              <a:schemeClr val="accent5"/>
            </a:solidFill>
            <a:prstDash val="solid"/>
          </a:ln>
        </p:spPr>
      </p:sp>
      <p:sp>
        <p:nvSpPr>
          <p:cNvPr id="14" name="Text 12"/>
          <p:cNvSpPr txBox="1"/>
          <p:nvPr/>
        </p:nvSpPr>
        <p:spPr>
          <a:xfrm>
            <a:off x="548640" y="4059936"/>
            <a:ext cx="640080" cy="32004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[04]</a:t>
            </a:r>
            <a:endParaRPr lang="en-US" sz="1300" dirty="0"/>
          </a:p>
        </p:txBody>
      </p:sp>
      <p:sp>
        <p:nvSpPr>
          <p:cNvPr id="15" name="Text 13"/>
          <p:cNvSpPr txBox="1"/>
          <p:nvPr/>
        </p:nvSpPr>
        <p:spPr>
          <a:xfrm>
            <a:off x="1234440" y="4005072"/>
            <a:ext cx="4937760" cy="411480"/>
          </a:xfrm>
          <a:prstGeom prst="rect">
            <a:avLst/>
          </a:prstGeom>
          <a:noFill/>
          <a:ln/>
        </p:spPr>
        <p:txBody>
          <a:bodyPr wrap="square" lIns="0" tIns="0" rIns="0" bIns="0" rtlCol="0" anchor="t"/>
          <a:lstStyle/>
          <a:p>
            <a:pPr indent="0" marL="0">
              <a:buNone/>
            </a:pPr>
            <a:r>
              <a:rPr lang="en-US" sz="1900" b="1" dirty="0">
                <a:solidFill>
                  <a:schemeClr val="bg1"/>
                </a:solidFill>
                <a:latin typeface="Arial" pitchFamily="34" charset="0"/>
                <a:ea typeface="Arial" pitchFamily="34" charset="-122"/>
                <a:cs typeface="Arial" pitchFamily="34" charset="-120"/>
              </a:rPr>
              <a:t>Reliability testing in a real store</a:t>
            </a:r>
            <a:endParaRPr lang="en-US" sz="1900" dirty="0"/>
          </a:p>
        </p:txBody>
      </p:sp>
      <p:sp>
        <p:nvSpPr>
          <p:cNvPr id="16" name="Shape 14"/>
          <p:cNvSpPr/>
          <p:nvPr/>
        </p:nvSpPr>
        <p:spPr>
          <a:xfrm>
            <a:off x="548640" y="4572000"/>
            <a:ext cx="5669280" cy="0"/>
          </a:xfrm>
          <a:prstGeom prst="line">
            <a:avLst/>
          </a:prstGeom>
          <a:noFill/>
          <a:ln w="12700">
            <a:solidFill>
              <a:schemeClr val="accent5"/>
            </a:solidFill>
            <a:prstDash val="solid"/>
          </a:ln>
        </p:spPr>
      </p:sp>
      <p:sp>
        <p:nvSpPr>
          <p:cNvPr id="17" name="Text 15"/>
          <p:cNvSpPr txBox="1"/>
          <p:nvPr/>
        </p:nvSpPr>
        <p:spPr>
          <a:xfrm>
            <a:off x="6675120" y="1828800"/>
            <a:ext cx="4937760" cy="914400"/>
          </a:xfrm>
          <a:prstGeom prst="rect">
            <a:avLst/>
          </a:prstGeom>
          <a:noFill/>
          <a:ln/>
        </p:spPr>
        <p:txBody>
          <a:bodyPr wrap="square" lIns="0" tIns="0" rIns="0" bIns="0" rtlCol="0" anchor="t"/>
          <a:lstStyle/>
          <a:p>
            <a:pPr indent="0" marL="0">
              <a:buNone/>
            </a:pPr>
            <a:r>
              <a:rPr lang="en-US" sz="5400" b="1" dirty="0">
                <a:solidFill>
                  <a:schemeClr val="bg1"/>
                </a:solidFill>
                <a:latin typeface="Arial" pitchFamily="34" charset="0"/>
                <a:ea typeface="Arial" pitchFamily="34" charset="-122"/>
                <a:cs typeface="Arial" pitchFamily="34" charset="-120"/>
              </a:rPr>
              <a:t>Shelf-Sense</a:t>
            </a:r>
            <a:endParaRPr lang="en-US" sz="5400" dirty="0"/>
          </a:p>
        </p:txBody>
      </p:sp>
      <p:sp>
        <p:nvSpPr>
          <p:cNvPr id="18" name="Text 16"/>
          <p:cNvSpPr txBox="1"/>
          <p:nvPr/>
        </p:nvSpPr>
        <p:spPr>
          <a:xfrm>
            <a:off x="6675120" y="2834640"/>
            <a:ext cx="4846320" cy="822960"/>
          </a:xfrm>
          <a:prstGeom prst="rect">
            <a:avLst/>
          </a:prstGeom>
          <a:noFill/>
          <a:ln/>
        </p:spPr>
        <p:txBody>
          <a:bodyPr wrap="square" lIns="0" tIns="0" rIns="0" bIns="0" rtlCol="0" anchor="t"/>
          <a:lstStyle/>
          <a:p>
            <a:pPr indent="0" marL="0">
              <a:buNone/>
            </a:pPr>
            <a:r>
              <a:rPr lang="en-US" sz="1900" dirty="0">
                <a:solidFill>
                  <a:schemeClr val="bg2"/>
                </a:solidFill>
                <a:latin typeface="Arial" pitchFamily="34" charset="0"/>
                <a:ea typeface="Arial" pitchFamily="34" charset="-122"/>
                <a:cs typeface="Arial" pitchFamily="34" charset="-120"/>
              </a:rPr>
              <a:t>AMD-hosted vision. Decisions in code. Honest about its limits.</a:t>
            </a:r>
            <a:endParaRPr lang="en-US" sz="1900" dirty="0"/>
          </a:p>
        </p:txBody>
      </p:sp>
      <p:sp>
        <p:nvSpPr>
          <p:cNvPr id="19" name="Text 17">
            <a:hlinkClick r:id="rId1" tooltip=""/>
          </p:cNvPr>
          <p:cNvSpPr txBox="1"/>
          <p:nvPr/>
        </p:nvSpPr>
        <p:spPr>
          <a:xfrm>
            <a:off x="6675120" y="3977640"/>
            <a:ext cx="4937760" cy="365760"/>
          </a:xfrm>
          <a:prstGeom prst="rect">
            <a:avLst/>
          </a:prstGeom>
          <a:noFill/>
          <a:ln/>
        </p:spPr>
        <p:txBody>
          <a:bodyPr wrap="square" lIns="0" tIns="0" rIns="0" bIns="0" rtlCol="0" anchor="t"/>
          <a:lstStyle/>
          <a:p>
            <a:pPr indent="0" marL="0">
              <a:buNone/>
            </a:pPr>
            <a:r>
              <a:rPr lang="en-US" sz="1400" u="sng" dirty="0">
                <a:solidFill>
                  <a:schemeClr val="accent1"/>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github.com/bhavya-jpg/shelf-sense</a:t>
            </a:r>
            <a:endParaRPr lang="en-US" sz="1400" dirty="0"/>
          </a:p>
        </p:txBody>
      </p:sp>
      <p:sp>
        <p:nvSpPr>
          <p:cNvPr id="20" name="Text 18"/>
          <p:cNvSpPr txBox="1"/>
          <p:nvPr/>
        </p:nvSpPr>
        <p:spPr>
          <a:xfrm>
            <a:off x="6675120" y="4434840"/>
            <a:ext cx="4937760" cy="32004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MIT licence · ACT III · Reinvent Commerce</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Shelf-Sense">
  <a:themeElements>
    <a:clrScheme name="Shelf-Sense">
      <a:dk1>
        <a:srgbClr val="0A0B0C"/>
      </a:dk1>
      <a:lt1>
        <a:srgbClr val="ECEBE6"/>
      </a:lt1>
      <a:dk2>
        <a:srgbClr val="15181A"/>
      </a:dk2>
      <a:lt2>
        <a:srgbClr val="9DA2A8"/>
      </a:lt2>
      <a:accent1>
        <a:srgbClr val="CDFF3F"/>
      </a:accent1>
      <a:accent2>
        <a:srgbClr val="F2B24B"/>
      </a:accent2>
      <a:accent3>
        <a:srgbClr val="FF6B57"/>
      </a:accent3>
      <a:accent4>
        <a:srgbClr val="93B4FF"/>
      </a:accent4>
      <a:accent5>
        <a:srgbClr val="31363A"/>
      </a:accent5>
      <a:accent6>
        <a:srgbClr val="6C7177"/>
      </a:accent6>
      <a:hlink>
        <a:srgbClr val="CDFF3F"/>
      </a:hlink>
      <a:folHlink>
        <a:srgbClr val="9DA2A8"/>
      </a:folHlink>
    </a:clrScheme>
    <a:fontScheme name="Shelf-Sens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Shelf-Sense — pitch deck</dc:title>
  <dc:subject>PptxGenJS Presentation</dc:subject>
  <dc:creator>Shelf-Sense</dc:creator>
  <cp:lastModifiedBy>Shelf-Sense</cp:lastModifiedBy>
  <cp:revision>1</cp:revision>
  <dcterms:created xsi:type="dcterms:W3CDTF">2026-10-18T06:40:42Z</dcterms:created>
  <dcterms:modified xsi:type="dcterms:W3CDTF">2026-10-18T06:40:42Z</dcterms:modified>
</cp:coreProperties>
</file>